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rebuchet MS" charset="1" panose="020B0603020202020204"/>
      <p:regular r:id="rId19"/>
    </p:embeddedFont>
    <p:embeddedFont>
      <p:font typeface="Trebuchet MS Bold" charset="1" panose="020B0703020202020204"/>
      <p:regular r:id="rId20"/>
    </p:embeddedFont>
    <p:embeddedFont>
      <p:font typeface="Inter Bold" charset="1" panose="02000503000000020004"/>
      <p:regular r:id="rId21"/>
    </p:embeddedFont>
    <p:embeddedFont>
      <p:font typeface="Inter" charset="1" panose="02000503000000020004"/>
      <p:regular r:id="rId22"/>
    </p:embeddedFont>
    <p:embeddedFont>
      <p:font typeface="Helvetica World Bold" charset="1" panose="020B0800040000020004"/>
      <p:regular r:id="rId26"/>
    </p:embeddedFont>
    <p:embeddedFont>
      <p:font typeface="Helvetica World" charset="1" panose="020B05000400000200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10463" y="2074212"/>
            <a:ext cx="1844345" cy="1589961"/>
            <a:chOff x="0" y="0"/>
            <a:chExt cx="2459126" cy="2119948"/>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p:spPr>
        </p:sp>
      </p:grpSp>
      <p:grpSp>
        <p:nvGrpSpPr>
          <p:cNvPr name="Group 31" id="31"/>
          <p:cNvGrpSpPr/>
          <p:nvPr/>
        </p:nvGrpSpPr>
        <p:grpSpPr>
          <a:xfrm rot="0">
            <a:off x="5632542" y="1791929"/>
            <a:ext cx="2499246" cy="2154517"/>
            <a:chOff x="0" y="0"/>
            <a:chExt cx="3332328" cy="2872689"/>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p:spPr>
        </p:sp>
      </p:grpSp>
      <p:grpSp>
        <p:nvGrpSpPr>
          <p:cNvPr name="Group 33" id="33"/>
          <p:cNvGrpSpPr/>
          <p:nvPr/>
        </p:nvGrpSpPr>
        <p:grpSpPr>
          <a:xfrm rot="0">
            <a:off x="5707494" y="7849772"/>
            <a:ext cx="1077392" cy="928783"/>
            <a:chOff x="0" y="0"/>
            <a:chExt cx="1436522" cy="1238377"/>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p:spPr>
        </p:sp>
      </p:grpSp>
      <p:grpSp>
        <p:nvGrpSpPr>
          <p:cNvPr name="Group 35" id="35"/>
          <p:cNvGrpSpPr/>
          <p:nvPr/>
        </p:nvGrpSpPr>
        <p:grpSpPr>
          <a:xfrm rot="0">
            <a:off x="2756754" y="1651959"/>
            <a:ext cx="977417" cy="842601"/>
            <a:chOff x="0" y="0"/>
            <a:chExt cx="1303223" cy="1123467"/>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p:spPr>
        </p:sp>
      </p:grpSp>
      <p:sp>
        <p:nvSpPr>
          <p:cNvPr name="TextBox 37" id="37"/>
          <p:cNvSpPr txBox="true"/>
          <p:nvPr/>
        </p:nvSpPr>
        <p:spPr>
          <a:xfrm rot="0">
            <a:off x="-339904" y="5245630"/>
            <a:ext cx="7895939" cy="1562133"/>
          </a:xfrm>
          <a:prstGeom prst="rect">
            <a:avLst/>
          </a:prstGeom>
        </p:spPr>
        <p:txBody>
          <a:bodyPr anchor="t" rtlCol="false" tIns="0" lIns="0" bIns="0" rIns="0">
            <a:spAutoFit/>
          </a:bodyPr>
          <a:lstStyle/>
          <a:p>
            <a:pPr algn="r">
              <a:lnSpc>
                <a:spcPts val="3240"/>
              </a:lnSpc>
            </a:pPr>
            <a:r>
              <a:rPr lang="en-US" sz="2700" b="true">
                <a:solidFill>
                  <a:srgbClr val="000000"/>
                </a:solidFill>
                <a:latin typeface="Trebuchet MS Bold"/>
                <a:ea typeface="Trebuchet MS Bold"/>
                <a:cs typeface="Trebuchet MS Bold"/>
                <a:sym typeface="Trebuchet MS Bold"/>
              </a:rPr>
              <a:t>Student Name</a:t>
            </a:r>
            <a:r>
              <a:rPr lang="en-US" sz="2700">
                <a:solidFill>
                  <a:srgbClr val="000000"/>
                </a:solidFill>
                <a:latin typeface="Trebuchet MS"/>
                <a:ea typeface="Trebuchet MS"/>
                <a:cs typeface="Trebuchet MS"/>
                <a:sym typeface="Trebuchet MS"/>
              </a:rPr>
              <a:t>: CHAITANYA ROHIT KAWLE</a:t>
            </a:r>
          </a:p>
          <a:p>
            <a:pPr algn="r">
              <a:lnSpc>
                <a:spcPts val="2618"/>
              </a:lnSpc>
            </a:pPr>
          </a:p>
          <a:p>
            <a:pPr algn="r">
              <a:lnSpc>
                <a:spcPts val="3240"/>
              </a:lnSpc>
            </a:pPr>
            <a:r>
              <a:rPr lang="en-US" sz="2700">
                <a:solidFill>
                  <a:srgbClr val="000000"/>
                </a:solidFill>
                <a:latin typeface="Trebuchet MS"/>
                <a:ea typeface="Trebuchet MS"/>
                <a:cs typeface="Trebuchet MS"/>
                <a:sym typeface="Trebuchet MS"/>
              </a:rPr>
              <a:t> </a:t>
            </a:r>
            <a:r>
              <a:rPr lang="en-US" sz="2700" b="true">
                <a:solidFill>
                  <a:srgbClr val="000000"/>
                </a:solidFill>
                <a:latin typeface="Trebuchet MS Bold"/>
                <a:ea typeface="Trebuchet MS Bold"/>
                <a:cs typeface="Trebuchet MS Bold"/>
                <a:sym typeface="Trebuchet MS Bold"/>
              </a:rPr>
              <a:t> College Name</a:t>
            </a:r>
            <a:r>
              <a:rPr lang="en-US" sz="2700">
                <a:solidFill>
                  <a:srgbClr val="000000"/>
                </a:solidFill>
                <a:latin typeface="Trebuchet MS"/>
                <a:ea typeface="Trebuchet MS"/>
                <a:cs typeface="Trebuchet MS"/>
                <a:sym typeface="Trebuchet MS"/>
              </a:rPr>
              <a:t>- KJ SOMAIYA INSTITUTE OF TECHNOLOGY</a:t>
            </a:r>
          </a:p>
        </p:txBody>
      </p:sp>
      <p:sp>
        <p:nvSpPr>
          <p:cNvPr name="TextBox 38" id="38"/>
          <p:cNvSpPr txBox="true"/>
          <p:nvPr/>
        </p:nvSpPr>
        <p:spPr>
          <a:xfrm rot="0">
            <a:off x="1110463" y="4312844"/>
            <a:ext cx="13724755" cy="1600045"/>
          </a:xfrm>
          <a:prstGeom prst="rect">
            <a:avLst/>
          </a:prstGeom>
        </p:spPr>
        <p:txBody>
          <a:bodyPr anchor="t" rtlCol="false" tIns="0" lIns="0" bIns="0" rIns="0">
            <a:spAutoFit/>
          </a:bodyPr>
          <a:lstStyle/>
          <a:p>
            <a:pPr algn="l">
              <a:lnSpc>
                <a:spcPts val="3970"/>
              </a:lnSpc>
            </a:pPr>
            <a:r>
              <a:rPr lang="en-US" sz="3308" b="true">
                <a:solidFill>
                  <a:srgbClr val="000000"/>
                </a:solidFill>
                <a:latin typeface="Trebuchet MS Bold"/>
                <a:ea typeface="Trebuchet MS Bold"/>
                <a:cs typeface="Trebuchet MS Bold"/>
                <a:sym typeface="Trebuchet MS Bold"/>
              </a:rPr>
              <a:t>Project Title </a:t>
            </a:r>
            <a:r>
              <a:rPr lang="en-US" sz="3308">
                <a:solidFill>
                  <a:srgbClr val="000000"/>
                </a:solidFill>
                <a:latin typeface="Trebuchet MS"/>
                <a:ea typeface="Trebuchet MS"/>
                <a:cs typeface="Trebuchet MS"/>
                <a:sym typeface="Trebuchet MS"/>
              </a:rPr>
              <a:t>-  Seasonal Agriculture Performance Analysis</a:t>
            </a:r>
          </a:p>
          <a:p>
            <a:pPr algn="l">
              <a:lnSpc>
                <a:spcPts val="4352"/>
              </a:lnSpc>
            </a:pPr>
          </a:p>
          <a:p>
            <a:pPr algn="l">
              <a:lnSpc>
                <a:spcPts val="4352"/>
              </a:lnSpc>
            </a:pPr>
          </a:p>
        </p:txBody>
      </p:sp>
      <p:grpSp>
        <p:nvGrpSpPr>
          <p:cNvPr name="Group 39" id="39"/>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41" id="41"/>
          <p:cNvSpPr txBox="true"/>
          <p:nvPr/>
        </p:nvSpPr>
        <p:spPr>
          <a:xfrm rot="0">
            <a:off x="1443342" y="7010367"/>
            <a:ext cx="8099803" cy="419133"/>
          </a:xfrm>
          <a:prstGeom prst="rect">
            <a:avLst/>
          </a:prstGeom>
        </p:spPr>
        <p:txBody>
          <a:bodyPr anchor="t" rtlCol="false" tIns="0" lIns="0" bIns="0" rIns="0">
            <a:spAutoFit/>
          </a:bodyPr>
          <a:lstStyle/>
          <a:p>
            <a:pPr algn="l">
              <a:lnSpc>
                <a:spcPts val="3240"/>
              </a:lnSpc>
            </a:pPr>
            <a:r>
              <a:rPr lang="en-US" sz="2700" b="true">
                <a:solidFill>
                  <a:srgbClr val="000000"/>
                </a:solidFill>
                <a:latin typeface="Trebuchet MS Bold"/>
                <a:ea typeface="Trebuchet MS Bold"/>
                <a:cs typeface="Trebuchet MS Bold"/>
                <a:sym typeface="Trebuchet MS Bold"/>
              </a:rPr>
              <a:t>AICTE STU ID : STU6a6b68883e2041785424008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990590" y="9568358"/>
            <a:ext cx="4114800" cy="547688"/>
            <a:chOff x="0" y="0"/>
            <a:chExt cx="5486400" cy="730250"/>
          </a:xfrm>
        </p:grpSpPr>
        <p:sp>
          <p:nvSpPr>
            <p:cNvPr name="Freeform 19" id="1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0" id="20"/>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1" id="21"/>
          <p:cNvGrpSpPr/>
          <p:nvPr/>
        </p:nvGrpSpPr>
        <p:grpSpPr>
          <a:xfrm rot="0">
            <a:off x="2168290" y="9568358"/>
            <a:ext cx="6172200" cy="547688"/>
            <a:chOff x="0" y="0"/>
            <a:chExt cx="8229600" cy="730250"/>
          </a:xfrm>
        </p:grpSpPr>
        <p:sp>
          <p:nvSpPr>
            <p:cNvPr name="Freeform 22" id="22"/>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3" id="23"/>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4" id="24"/>
          <p:cNvGrpSpPr/>
          <p:nvPr/>
        </p:nvGrpSpPr>
        <p:grpSpPr>
          <a:xfrm rot="0">
            <a:off x="13208003" y="9568358"/>
            <a:ext cx="4114800" cy="547688"/>
            <a:chOff x="0" y="0"/>
            <a:chExt cx="5486400" cy="730250"/>
          </a:xfrm>
        </p:grpSpPr>
        <p:sp>
          <p:nvSpPr>
            <p:cNvPr name="Freeform 25" id="25"/>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6" id="26"/>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7" id="27"/>
          <p:cNvGrpSpPr/>
          <p:nvPr/>
        </p:nvGrpSpPr>
        <p:grpSpPr>
          <a:xfrm rot="0">
            <a:off x="14031687" y="8045977"/>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29" id="29"/>
          <p:cNvGrpSpPr/>
          <p:nvPr/>
        </p:nvGrpSpPr>
        <p:grpSpPr>
          <a:xfrm rot="0">
            <a:off x="14031687" y="8846610"/>
            <a:ext cx="269967" cy="269967"/>
            <a:chOff x="0" y="0"/>
            <a:chExt cx="359956" cy="359956"/>
          </a:xfrm>
        </p:grpSpPr>
        <p:sp>
          <p:nvSpPr>
            <p:cNvPr name="Freeform 30" id="30"/>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1" id="31"/>
          <p:cNvSpPr txBox="true"/>
          <p:nvPr/>
        </p:nvSpPr>
        <p:spPr>
          <a:xfrm rot="0">
            <a:off x="1223343" y="861822"/>
            <a:ext cx="10310527" cy="1103252"/>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PROBLEM  STATEMENT</a:t>
            </a:r>
          </a:p>
        </p:txBody>
      </p:sp>
      <p:grpSp>
        <p:nvGrpSpPr>
          <p:cNvPr name="Group 32" id="32"/>
          <p:cNvGrpSpPr/>
          <p:nvPr/>
        </p:nvGrpSpPr>
        <p:grpSpPr>
          <a:xfrm rot="0">
            <a:off x="11993528" y="4396254"/>
            <a:ext cx="4141137" cy="4896612"/>
            <a:chOff x="0" y="0"/>
            <a:chExt cx="5521516" cy="6528816"/>
          </a:xfrm>
        </p:grpSpPr>
        <p:sp>
          <p:nvSpPr>
            <p:cNvPr name="Freeform 33" id="33"/>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3"/>
              <a:stretch>
                <a:fillRect l="0" t="0" r="1" b="0"/>
              </a:stretch>
            </a:blipFill>
          </p:spPr>
        </p:sp>
      </p:grpSp>
      <p:grpSp>
        <p:nvGrpSpPr>
          <p:cNvPr name="Group 34" id="34"/>
          <p:cNvGrpSpPr/>
          <p:nvPr/>
        </p:nvGrpSpPr>
        <p:grpSpPr>
          <a:xfrm rot="0">
            <a:off x="1013936" y="9707880"/>
            <a:ext cx="3214688" cy="289560"/>
            <a:chOff x="0" y="0"/>
            <a:chExt cx="4286250" cy="386080"/>
          </a:xfrm>
        </p:grpSpPr>
        <p:sp>
          <p:nvSpPr>
            <p:cNvPr name="Freeform 35" id="35"/>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4"/>
              <a:stretch>
                <a:fillRect l="0" t="-2518486" r="-135857" b="0"/>
              </a:stretch>
            </a:blipFill>
          </p:spPr>
        </p:sp>
      </p:grpSp>
      <p:sp>
        <p:nvSpPr>
          <p:cNvPr name="TextBox 36" id="36"/>
          <p:cNvSpPr txBox="true"/>
          <p:nvPr/>
        </p:nvSpPr>
        <p:spPr>
          <a:xfrm rot="0">
            <a:off x="488195" y="2057300"/>
            <a:ext cx="6372850" cy="537779"/>
          </a:xfrm>
          <a:prstGeom prst="rect">
            <a:avLst/>
          </a:prstGeom>
        </p:spPr>
        <p:txBody>
          <a:bodyPr anchor="t" rtlCol="false" tIns="0" lIns="0" bIns="0" rIns="0">
            <a:spAutoFit/>
          </a:bodyPr>
          <a:lstStyle/>
          <a:p>
            <a:pPr algn="l" marL="0" indent="0" lvl="0">
              <a:lnSpc>
                <a:spcPts val="4480"/>
              </a:lnSpc>
            </a:pPr>
            <a:r>
              <a:rPr lang="en-US" b="true" sz="3200">
                <a:solidFill>
                  <a:srgbClr val="2D3748"/>
                </a:solidFill>
                <a:latin typeface="Inter Bold"/>
                <a:ea typeface="Inter Bold"/>
                <a:cs typeface="Inter Bold"/>
                <a:sym typeface="Inter Bold"/>
              </a:rPr>
              <a:t>Seasonal &amp; Regional Variation</a:t>
            </a:r>
          </a:p>
        </p:txBody>
      </p:sp>
      <p:sp>
        <p:nvSpPr>
          <p:cNvPr name="TextBox 37" id="37"/>
          <p:cNvSpPr txBox="true"/>
          <p:nvPr/>
        </p:nvSpPr>
        <p:spPr>
          <a:xfrm rot="0">
            <a:off x="990590" y="2642704"/>
            <a:ext cx="10942186" cy="1029462"/>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Agricultural output varies significantly across seasons, regions, and crop types, making consistent planning difficult.</a:t>
            </a:r>
          </a:p>
        </p:txBody>
      </p:sp>
      <p:sp>
        <p:nvSpPr>
          <p:cNvPr name="TextBox 38" id="38"/>
          <p:cNvSpPr txBox="true"/>
          <p:nvPr/>
        </p:nvSpPr>
        <p:spPr>
          <a:xfrm rot="0">
            <a:off x="488195" y="3692473"/>
            <a:ext cx="7551840" cy="537779"/>
          </a:xfrm>
          <a:prstGeom prst="rect">
            <a:avLst/>
          </a:prstGeom>
        </p:spPr>
        <p:txBody>
          <a:bodyPr anchor="t" rtlCol="false" tIns="0" lIns="0" bIns="0" rIns="0">
            <a:spAutoFit/>
          </a:bodyPr>
          <a:lstStyle/>
          <a:p>
            <a:pPr algn="l" marL="0" indent="0" lvl="0">
              <a:lnSpc>
                <a:spcPts val="4480"/>
              </a:lnSpc>
            </a:pPr>
            <a:r>
              <a:rPr lang="en-US" b="true" sz="3200">
                <a:solidFill>
                  <a:srgbClr val="2D3748"/>
                </a:solidFill>
                <a:latin typeface="Inter Bold"/>
                <a:ea typeface="Inter Bold"/>
                <a:cs typeface="Inter Bold"/>
                <a:sym typeface="Inter Bold"/>
              </a:rPr>
              <a:t>Productivity &amp; Profitability Patterns</a:t>
            </a:r>
          </a:p>
        </p:txBody>
      </p:sp>
      <p:sp>
        <p:nvSpPr>
          <p:cNvPr name="TextBox 39" id="39"/>
          <p:cNvSpPr txBox="true"/>
          <p:nvPr/>
        </p:nvSpPr>
        <p:spPr>
          <a:xfrm rot="0">
            <a:off x="1013936" y="4250560"/>
            <a:ext cx="11493616" cy="1029462"/>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Hidden trends in resource use, irrigation, and environmental factors limit understanding of key productivity and profit drivers.</a:t>
            </a:r>
          </a:p>
        </p:txBody>
      </p:sp>
      <p:sp>
        <p:nvSpPr>
          <p:cNvPr name="TextBox 40" id="40"/>
          <p:cNvSpPr txBox="true"/>
          <p:nvPr/>
        </p:nvSpPr>
        <p:spPr>
          <a:xfrm rot="0">
            <a:off x="488195" y="5403847"/>
            <a:ext cx="6547049" cy="547304"/>
          </a:xfrm>
          <a:prstGeom prst="rect">
            <a:avLst/>
          </a:prstGeom>
        </p:spPr>
        <p:txBody>
          <a:bodyPr anchor="t" rtlCol="false" tIns="0" lIns="0" bIns="0" rIns="0">
            <a:spAutoFit/>
          </a:bodyPr>
          <a:lstStyle/>
          <a:p>
            <a:pPr algn="l" marL="0" indent="0" lvl="0">
              <a:lnSpc>
                <a:spcPts val="4479"/>
              </a:lnSpc>
            </a:pPr>
            <a:r>
              <a:rPr lang="en-US" b="true" sz="3199">
                <a:solidFill>
                  <a:srgbClr val="2D3748"/>
                </a:solidFill>
                <a:latin typeface="Inter Bold"/>
                <a:ea typeface="Inter Bold"/>
                <a:cs typeface="Inter Bold"/>
                <a:sym typeface="Inter Bold"/>
              </a:rPr>
              <a:t>Crop-Level Performance Gaps</a:t>
            </a:r>
          </a:p>
        </p:txBody>
      </p:sp>
      <p:sp>
        <p:nvSpPr>
          <p:cNvPr name="TextBox 41" id="41"/>
          <p:cNvSpPr txBox="true"/>
          <p:nvPr/>
        </p:nvSpPr>
        <p:spPr>
          <a:xfrm rot="0">
            <a:off x="1013936" y="5876163"/>
            <a:ext cx="10109329" cy="1553337"/>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Lack of structured analysis leads to unidentified underperforming crops and missed opportunities for yield optimisation.</a:t>
            </a:r>
          </a:p>
        </p:txBody>
      </p:sp>
      <p:sp>
        <p:nvSpPr>
          <p:cNvPr name="TextBox 42" id="42"/>
          <p:cNvSpPr txBox="true"/>
          <p:nvPr/>
        </p:nvSpPr>
        <p:spPr>
          <a:xfrm rot="0">
            <a:off x="488195" y="7508198"/>
            <a:ext cx="6269634" cy="537779"/>
          </a:xfrm>
          <a:prstGeom prst="rect">
            <a:avLst/>
          </a:prstGeom>
        </p:spPr>
        <p:txBody>
          <a:bodyPr anchor="t" rtlCol="false" tIns="0" lIns="0" bIns="0" rIns="0">
            <a:spAutoFit/>
          </a:bodyPr>
          <a:lstStyle/>
          <a:p>
            <a:pPr algn="l" marL="0" indent="0" lvl="0">
              <a:lnSpc>
                <a:spcPts val="4480"/>
              </a:lnSpc>
            </a:pPr>
            <a:r>
              <a:rPr lang="en-US" b="true" sz="3200">
                <a:solidFill>
                  <a:srgbClr val="2D3748"/>
                </a:solidFill>
                <a:latin typeface="Inter Bold"/>
                <a:ea typeface="Inter Bold"/>
                <a:cs typeface="Inter Bold"/>
                <a:sym typeface="Inter Bold"/>
              </a:rPr>
              <a:t>Evidence-Based Improvement</a:t>
            </a:r>
          </a:p>
        </p:txBody>
      </p:sp>
      <p:sp>
        <p:nvSpPr>
          <p:cNvPr name="TextBox 43" id="43"/>
          <p:cNvSpPr txBox="true"/>
          <p:nvPr/>
        </p:nvSpPr>
        <p:spPr>
          <a:xfrm rot="0">
            <a:off x="1028700" y="8096250"/>
            <a:ext cx="9907423" cy="1553337"/>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The goal is to provide data-driven insights that support better agricultural practices and informed decision-making.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031687" y="8846610"/>
            <a:ext cx="269967" cy="269967"/>
            <a:chOff x="0" y="0"/>
            <a:chExt cx="359956" cy="359956"/>
          </a:xfrm>
        </p:grpSpPr>
        <p:sp>
          <p:nvSpPr>
            <p:cNvPr name="Freeform 32" id="32"/>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3" id="33"/>
          <p:cNvSpPr txBox="true"/>
          <p:nvPr/>
        </p:nvSpPr>
        <p:spPr>
          <a:xfrm rot="0">
            <a:off x="673103" y="1160126"/>
            <a:ext cx="9874739" cy="3152775"/>
          </a:xfrm>
          <a:prstGeom prst="rect">
            <a:avLst/>
          </a:prstGeom>
        </p:spPr>
        <p:txBody>
          <a:bodyPr anchor="t" rtlCol="false" tIns="0" lIns="0" bIns="0" rIns="0">
            <a:spAutoFit/>
          </a:bodyPr>
          <a:lstStyle/>
          <a:p>
            <a:pPr algn="l">
              <a:lnSpc>
                <a:spcPts val="8256"/>
              </a:lnSpc>
            </a:pPr>
            <a:r>
              <a:rPr lang="en-US" sz="6880" b="true">
                <a:solidFill>
                  <a:srgbClr val="000000"/>
                </a:solidFill>
                <a:latin typeface="Trebuchet MS Bold"/>
                <a:ea typeface="Trebuchet MS Bold"/>
                <a:cs typeface="Trebuchet MS Bold"/>
                <a:sym typeface="Trebuchet MS Bold"/>
              </a:rPr>
              <a:t>Project Description</a:t>
            </a:r>
          </a:p>
          <a:p>
            <a:pPr algn="l">
              <a:lnSpc>
                <a:spcPts val="8256"/>
              </a:lnSpc>
            </a:pPr>
          </a:p>
          <a:p>
            <a:pPr algn="l">
              <a:lnSpc>
                <a:spcPts val="8256"/>
              </a:lnSpc>
            </a:pPr>
          </a:p>
        </p:txBody>
      </p:sp>
      <p:grpSp>
        <p:nvGrpSpPr>
          <p:cNvPr name="Group 34" id="34"/>
          <p:cNvGrpSpPr/>
          <p:nvPr/>
        </p:nvGrpSpPr>
        <p:grpSpPr>
          <a:xfrm rot="0">
            <a:off x="1013936" y="9707880"/>
            <a:ext cx="3214688" cy="289560"/>
            <a:chOff x="0" y="0"/>
            <a:chExt cx="4286250" cy="386080"/>
          </a:xfrm>
        </p:grpSpPr>
        <p:sp>
          <p:nvSpPr>
            <p:cNvPr name="Freeform 35" id="35"/>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grpSp>
        <p:nvGrpSpPr>
          <p:cNvPr name="Group 36" id="36"/>
          <p:cNvGrpSpPr/>
          <p:nvPr/>
        </p:nvGrpSpPr>
        <p:grpSpPr>
          <a:xfrm rot="0">
            <a:off x="701040" y="9615688"/>
            <a:ext cx="5559381" cy="444141"/>
            <a:chOff x="0" y="0"/>
            <a:chExt cx="7412507" cy="592188"/>
          </a:xfrm>
        </p:grpSpPr>
        <p:sp>
          <p:nvSpPr>
            <p:cNvPr name="Freeform 37" id="37"/>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sp>
        <p:nvSpPr>
          <p:cNvPr name="TextBox 38" id="38"/>
          <p:cNvSpPr txBox="true"/>
          <p:nvPr/>
        </p:nvSpPr>
        <p:spPr>
          <a:xfrm rot="0">
            <a:off x="673103" y="2731751"/>
            <a:ext cx="13219931" cy="5828870"/>
          </a:xfrm>
          <a:prstGeom prst="rect">
            <a:avLst/>
          </a:prstGeom>
        </p:spPr>
        <p:txBody>
          <a:bodyPr anchor="t" rtlCol="false" tIns="0" lIns="0" bIns="0" rIns="0">
            <a:spAutoFit/>
          </a:bodyPr>
          <a:lstStyle/>
          <a:p>
            <a:pPr algn="l">
              <a:lnSpc>
                <a:spcPts val="3558"/>
              </a:lnSpc>
            </a:pPr>
            <a:r>
              <a:rPr lang="en-US" sz="2965">
                <a:solidFill>
                  <a:srgbClr val="000000"/>
                </a:solidFill>
                <a:latin typeface="Trebuchet MS"/>
                <a:ea typeface="Trebuchet MS"/>
                <a:cs typeface="Trebuchet MS"/>
                <a:sym typeface="Trebuchet MS"/>
              </a:rPr>
              <a:t>This project conducts an end-to-end data analytics study on 4,000 agricultural farm records across 28 distinct features to evaluate the impact of seasonal variations on farming performance.</a:t>
            </a:r>
          </a:p>
          <a:p>
            <a:pPr algn="l">
              <a:lnSpc>
                <a:spcPts val="3558"/>
              </a:lnSpc>
            </a:pPr>
          </a:p>
          <a:p>
            <a:pPr algn="l">
              <a:lnSpc>
                <a:spcPts val="3558"/>
              </a:lnSpc>
            </a:pPr>
            <a:r>
              <a:rPr lang="en-US" sz="2965">
                <a:solidFill>
                  <a:srgbClr val="000000"/>
                </a:solidFill>
                <a:latin typeface="Trebuchet MS"/>
                <a:ea typeface="Trebuchet MS"/>
                <a:cs typeface="Trebuchet MS"/>
                <a:sym typeface="Trebuchet MS"/>
              </a:rPr>
              <a:t> Using a Python data science pipeline (Pandas, Matplotlib, Seaborn), the analysis processes environmental variables, soil chemistry  , irrigation techniques, pest risks, and farm economics across the Kharif, Rabi, and Zaid seasons. </a:t>
            </a:r>
          </a:p>
          <a:p>
            <a:pPr algn="l">
              <a:lnSpc>
                <a:spcPts val="3558"/>
              </a:lnSpc>
            </a:pPr>
          </a:p>
          <a:p>
            <a:pPr algn="l">
              <a:lnSpc>
                <a:spcPts val="3558"/>
              </a:lnSpc>
            </a:pPr>
            <a:r>
              <a:rPr lang="en-US" sz="2965">
                <a:solidFill>
                  <a:srgbClr val="000000"/>
                </a:solidFill>
                <a:latin typeface="Trebuchet MS"/>
                <a:ea typeface="Trebuchet MS"/>
                <a:cs typeface="Trebuchet MS"/>
                <a:sym typeface="Trebuchet MS"/>
              </a:rPr>
              <a:t>By performing structured data cleaning, missing value imputation, and multi-variable analysis, the project identifies seasonal yield bottlenecks, compares water productivity, and evaluates profit dynamics to provide actionable, evidence-based recommendations for strategic agricultural planning.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990590" y="9568358"/>
            <a:ext cx="4114800" cy="547688"/>
            <a:chOff x="0" y="0"/>
            <a:chExt cx="5486400" cy="730250"/>
          </a:xfrm>
        </p:grpSpPr>
        <p:sp>
          <p:nvSpPr>
            <p:cNvPr name="Freeform 19" id="1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0" id="20"/>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1" id="21"/>
          <p:cNvGrpSpPr/>
          <p:nvPr/>
        </p:nvGrpSpPr>
        <p:grpSpPr>
          <a:xfrm rot="0">
            <a:off x="2168290" y="9568358"/>
            <a:ext cx="6172200" cy="547688"/>
            <a:chOff x="0" y="0"/>
            <a:chExt cx="8229600" cy="730250"/>
          </a:xfrm>
        </p:grpSpPr>
        <p:sp>
          <p:nvSpPr>
            <p:cNvPr name="Freeform 22" id="22"/>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3" id="23"/>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4" id="24"/>
          <p:cNvGrpSpPr/>
          <p:nvPr/>
        </p:nvGrpSpPr>
        <p:grpSpPr>
          <a:xfrm rot="0">
            <a:off x="13208003" y="9568358"/>
            <a:ext cx="4114800" cy="547688"/>
            <a:chOff x="0" y="0"/>
            <a:chExt cx="5486400" cy="730250"/>
          </a:xfrm>
        </p:grpSpPr>
        <p:sp>
          <p:nvSpPr>
            <p:cNvPr name="Freeform 25" id="25"/>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6" id="26"/>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7" id="27"/>
          <p:cNvGrpSpPr/>
          <p:nvPr/>
        </p:nvGrpSpPr>
        <p:grpSpPr>
          <a:xfrm rot="0">
            <a:off x="14031687" y="8045977"/>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29" id="29"/>
          <p:cNvGrpSpPr/>
          <p:nvPr/>
        </p:nvGrpSpPr>
        <p:grpSpPr>
          <a:xfrm rot="0">
            <a:off x="14031687" y="8846610"/>
            <a:ext cx="269967" cy="269967"/>
            <a:chOff x="0" y="0"/>
            <a:chExt cx="359956" cy="359956"/>
          </a:xfrm>
        </p:grpSpPr>
        <p:sp>
          <p:nvSpPr>
            <p:cNvPr name="Freeform 30" id="30"/>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1" id="31"/>
          <p:cNvSpPr txBox="true"/>
          <p:nvPr/>
        </p:nvSpPr>
        <p:spPr>
          <a:xfrm rot="0">
            <a:off x="673103" y="811245"/>
            <a:ext cx="14886222" cy="1122045"/>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2" id="32"/>
          <p:cNvGrpSpPr/>
          <p:nvPr/>
        </p:nvGrpSpPr>
        <p:grpSpPr>
          <a:xfrm rot="0">
            <a:off x="1082040" y="9265206"/>
            <a:ext cx="3271838" cy="728662"/>
            <a:chOff x="0" y="0"/>
            <a:chExt cx="4362450" cy="971550"/>
          </a:xfrm>
        </p:grpSpPr>
        <p:sp>
          <p:nvSpPr>
            <p:cNvPr name="Freeform 33" id="33"/>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3"/>
              <a:stretch>
                <a:fillRect l="0" t="0" r="0" b="0"/>
              </a:stretch>
            </a:blipFill>
          </p:spPr>
        </p:sp>
      </p:grpSp>
      <p:sp>
        <p:nvSpPr>
          <p:cNvPr name="TextBox 34" id="34"/>
          <p:cNvSpPr txBox="true"/>
          <p:nvPr/>
        </p:nvSpPr>
        <p:spPr>
          <a:xfrm rot="0">
            <a:off x="673103" y="2175702"/>
            <a:ext cx="6876995" cy="537779"/>
          </a:xfrm>
          <a:prstGeom prst="rect">
            <a:avLst/>
          </a:prstGeom>
        </p:spPr>
        <p:txBody>
          <a:bodyPr anchor="t" rtlCol="false" tIns="0" lIns="0" bIns="0" rIns="0">
            <a:spAutoFit/>
          </a:bodyPr>
          <a:lstStyle/>
          <a:p>
            <a:pPr algn="l" marL="690881" indent="-345440" lvl="1">
              <a:lnSpc>
                <a:spcPts val="4480"/>
              </a:lnSpc>
              <a:buFont typeface="Arial"/>
              <a:buChar char="•"/>
            </a:pPr>
            <a:r>
              <a:rPr lang="en-US" b="true" sz="3200">
                <a:solidFill>
                  <a:srgbClr val="2D3748"/>
                </a:solidFill>
                <a:latin typeface="Inter Bold"/>
                <a:ea typeface="Inter Bold"/>
                <a:cs typeface="Inter Bold"/>
                <a:sym typeface="Inter Bold"/>
              </a:rPr>
              <a:t>Farmers &amp; Planners</a:t>
            </a:r>
          </a:p>
        </p:txBody>
      </p:sp>
      <p:sp>
        <p:nvSpPr>
          <p:cNvPr name="TextBox 35" id="35"/>
          <p:cNvSpPr txBox="true"/>
          <p:nvPr/>
        </p:nvSpPr>
        <p:spPr>
          <a:xfrm rot="0">
            <a:off x="1397403" y="2656331"/>
            <a:ext cx="11663677" cy="1029462"/>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Farmers and agricultural planners seeking seasonal performance insights to optimize crop selection and resource use.</a:t>
            </a:r>
          </a:p>
        </p:txBody>
      </p:sp>
      <p:sp>
        <p:nvSpPr>
          <p:cNvPr name="TextBox 36" id="36"/>
          <p:cNvSpPr txBox="true"/>
          <p:nvPr/>
        </p:nvSpPr>
        <p:spPr>
          <a:xfrm rot="0">
            <a:off x="673103" y="3923918"/>
            <a:ext cx="4987428" cy="537779"/>
          </a:xfrm>
          <a:prstGeom prst="rect">
            <a:avLst/>
          </a:prstGeom>
        </p:spPr>
        <p:txBody>
          <a:bodyPr anchor="t" rtlCol="false" tIns="0" lIns="0" bIns="0" rIns="0">
            <a:spAutoFit/>
          </a:bodyPr>
          <a:lstStyle/>
          <a:p>
            <a:pPr algn="l" marL="690881" indent="-345440" lvl="1">
              <a:lnSpc>
                <a:spcPts val="4480"/>
              </a:lnSpc>
              <a:buFont typeface="Arial"/>
              <a:buChar char="•"/>
            </a:pPr>
            <a:r>
              <a:rPr lang="en-US" b="true" sz="3200">
                <a:solidFill>
                  <a:srgbClr val="2D3748"/>
                </a:solidFill>
                <a:latin typeface="Inter Bold"/>
                <a:ea typeface="Inter Bold"/>
                <a:cs typeface="Inter Bold"/>
                <a:sym typeface="Inter Bold"/>
              </a:rPr>
              <a:t>Policy Makers</a:t>
            </a:r>
          </a:p>
        </p:txBody>
      </p:sp>
      <p:sp>
        <p:nvSpPr>
          <p:cNvPr name="TextBox 37" id="37"/>
          <p:cNvSpPr txBox="true"/>
          <p:nvPr/>
        </p:nvSpPr>
        <p:spPr>
          <a:xfrm rot="0">
            <a:off x="1397403" y="4485500"/>
            <a:ext cx="11553425" cy="1029462"/>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Policy makers aiming to enhance regional agricultural productivity through evidence-based decisions.</a:t>
            </a:r>
          </a:p>
        </p:txBody>
      </p:sp>
      <p:sp>
        <p:nvSpPr>
          <p:cNvPr name="TextBox 38" id="38"/>
          <p:cNvSpPr txBox="true"/>
          <p:nvPr/>
        </p:nvSpPr>
        <p:spPr>
          <a:xfrm rot="0">
            <a:off x="673103" y="5691879"/>
            <a:ext cx="4987428" cy="537779"/>
          </a:xfrm>
          <a:prstGeom prst="rect">
            <a:avLst/>
          </a:prstGeom>
        </p:spPr>
        <p:txBody>
          <a:bodyPr anchor="t" rtlCol="false" tIns="0" lIns="0" bIns="0" rIns="0">
            <a:spAutoFit/>
          </a:bodyPr>
          <a:lstStyle/>
          <a:p>
            <a:pPr algn="l" marL="690881" indent="-345440" lvl="1">
              <a:lnSpc>
                <a:spcPts val="4480"/>
              </a:lnSpc>
              <a:buFont typeface="Arial"/>
              <a:buChar char="•"/>
            </a:pPr>
            <a:r>
              <a:rPr lang="en-US" b="true" sz="3200">
                <a:solidFill>
                  <a:srgbClr val="2D3748"/>
                </a:solidFill>
                <a:latin typeface="Inter Bold"/>
                <a:ea typeface="Inter Bold"/>
                <a:cs typeface="Inter Bold"/>
                <a:sym typeface="Inter Bold"/>
              </a:rPr>
              <a:t>Research Institutions</a:t>
            </a:r>
          </a:p>
        </p:txBody>
      </p:sp>
      <p:sp>
        <p:nvSpPr>
          <p:cNvPr name="TextBox 39" id="39"/>
          <p:cNvSpPr txBox="true"/>
          <p:nvPr/>
        </p:nvSpPr>
        <p:spPr>
          <a:xfrm rot="0">
            <a:off x="1397403" y="6248708"/>
            <a:ext cx="11663677" cy="1029462"/>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Academic and research institutions leveraging dataset insights for agricultural studies and innovation.</a:t>
            </a:r>
          </a:p>
        </p:txBody>
      </p:sp>
      <p:sp>
        <p:nvSpPr>
          <p:cNvPr name="TextBox 40" id="40"/>
          <p:cNvSpPr txBox="true"/>
          <p:nvPr/>
        </p:nvSpPr>
        <p:spPr>
          <a:xfrm rot="0">
            <a:off x="673103" y="7429019"/>
            <a:ext cx="8159201" cy="537779"/>
          </a:xfrm>
          <a:prstGeom prst="rect">
            <a:avLst/>
          </a:prstGeom>
        </p:spPr>
        <p:txBody>
          <a:bodyPr anchor="t" rtlCol="false" tIns="0" lIns="0" bIns="0" rIns="0">
            <a:spAutoFit/>
          </a:bodyPr>
          <a:lstStyle/>
          <a:p>
            <a:pPr algn="l" marL="690881" indent="-345440" lvl="1">
              <a:lnSpc>
                <a:spcPts val="4480"/>
              </a:lnSpc>
              <a:buFont typeface="Arial"/>
              <a:buChar char="•"/>
            </a:pPr>
            <a:r>
              <a:rPr lang="en-US" b="true" sz="3200">
                <a:solidFill>
                  <a:srgbClr val="2D3748"/>
                </a:solidFill>
                <a:latin typeface="Inter Bold"/>
                <a:ea typeface="Inter Bold"/>
                <a:cs typeface="Inter Bold"/>
                <a:sym typeface="Inter Bold"/>
              </a:rPr>
              <a:t>Agribusiness Analysts</a:t>
            </a:r>
          </a:p>
        </p:txBody>
      </p:sp>
      <p:sp>
        <p:nvSpPr>
          <p:cNvPr name="TextBox 41" id="41"/>
          <p:cNvSpPr txBox="true"/>
          <p:nvPr/>
        </p:nvSpPr>
        <p:spPr>
          <a:xfrm rot="0">
            <a:off x="1397403" y="7988827"/>
            <a:ext cx="11663677" cy="1029462"/>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Agribusiness analysts studying economic trends, revenue distribution, and profitability across crops and states.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grpSp>
        <p:nvGrpSpPr>
          <p:cNvPr name="Group 2" id="2"/>
          <p:cNvGrpSpPr/>
          <p:nvPr/>
        </p:nvGrpSpPr>
        <p:grpSpPr>
          <a:xfrm rot="0">
            <a:off x="16348091" y="-12697"/>
            <a:ext cx="1935137" cy="10299697"/>
            <a:chOff x="0" y="0"/>
            <a:chExt cx="2580183" cy="13732929"/>
          </a:xfrm>
        </p:grpSpPr>
        <p:sp>
          <p:nvSpPr>
            <p:cNvPr name="Freeform 3" id="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4" id="4"/>
          <p:cNvGrpSpPr/>
          <p:nvPr/>
        </p:nvGrpSpPr>
        <p:grpSpPr>
          <a:xfrm rot="0">
            <a:off x="16408498" y="-12697"/>
            <a:ext cx="1874739" cy="10299697"/>
            <a:chOff x="0" y="0"/>
            <a:chExt cx="2499652" cy="13732929"/>
          </a:xfrm>
        </p:grpSpPr>
        <p:sp>
          <p:nvSpPr>
            <p:cNvPr name="Freeform 5" id="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6" id="6"/>
          <p:cNvGrpSpPr/>
          <p:nvPr/>
        </p:nvGrpSpPr>
        <p:grpSpPr>
          <a:xfrm rot="0">
            <a:off x="990590" y="9568358"/>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8" id="8"/>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9" id="9"/>
          <p:cNvGrpSpPr/>
          <p:nvPr/>
        </p:nvGrpSpPr>
        <p:grpSpPr>
          <a:xfrm rot="0">
            <a:off x="2168290" y="9568358"/>
            <a:ext cx="6172200" cy="547688"/>
            <a:chOff x="0" y="0"/>
            <a:chExt cx="8229600" cy="730250"/>
          </a:xfrm>
        </p:grpSpPr>
        <p:sp>
          <p:nvSpPr>
            <p:cNvPr name="Freeform 10" id="10"/>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3">
                <a:alphaModFix amt="0"/>
              </a:blip>
              <a:stretch>
                <a:fillRect l="0" t="-169587" r="0" b="-169587"/>
              </a:stretch>
            </a:blipFill>
          </p:spPr>
        </p:sp>
        <p:sp>
          <p:nvSpPr>
            <p:cNvPr name="TextBox 11" id="11"/>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12" id="12"/>
          <p:cNvGrpSpPr/>
          <p:nvPr/>
        </p:nvGrpSpPr>
        <p:grpSpPr>
          <a:xfrm rot="0">
            <a:off x="13208003" y="9568358"/>
            <a:ext cx="4114800" cy="547688"/>
            <a:chOff x="0" y="0"/>
            <a:chExt cx="5486400" cy="730250"/>
          </a:xfrm>
        </p:grpSpPr>
        <p:sp>
          <p:nvSpPr>
            <p:cNvPr name="Freeform 13" id="13"/>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14" id="14"/>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15" id="15"/>
          <p:cNvGrpSpPr/>
          <p:nvPr/>
        </p:nvGrpSpPr>
        <p:grpSpPr>
          <a:xfrm rot="0">
            <a:off x="11044238" y="664893"/>
            <a:ext cx="542925" cy="542925"/>
            <a:chOff x="0" y="0"/>
            <a:chExt cx="723900" cy="723900"/>
          </a:xfrm>
        </p:grpSpPr>
        <p:sp>
          <p:nvSpPr>
            <p:cNvPr name="Freeform 16" id="16"/>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p:spPr>
        </p:sp>
      </p:grpSp>
      <p:grpSp>
        <p:nvGrpSpPr>
          <p:cNvPr name="Group 17" id="17"/>
          <p:cNvGrpSpPr/>
          <p:nvPr/>
        </p:nvGrpSpPr>
        <p:grpSpPr>
          <a:xfrm rot="0">
            <a:off x="16510873" y="8408994"/>
            <a:ext cx="981342" cy="981342"/>
            <a:chOff x="0" y="0"/>
            <a:chExt cx="1308456" cy="1308456"/>
          </a:xfrm>
        </p:grpSpPr>
        <p:sp>
          <p:nvSpPr>
            <p:cNvPr name="Freeform 18" id="18"/>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p:spPr>
        </p:sp>
      </p:grpSp>
      <p:grpSp>
        <p:nvGrpSpPr>
          <p:cNvPr name="Group 19" id="19"/>
          <p:cNvGrpSpPr/>
          <p:nvPr/>
        </p:nvGrpSpPr>
        <p:grpSpPr>
          <a:xfrm rot="0">
            <a:off x="16025689" y="9198654"/>
            <a:ext cx="376723" cy="376723"/>
            <a:chOff x="0" y="0"/>
            <a:chExt cx="502298" cy="502298"/>
          </a:xfrm>
        </p:grpSpPr>
        <p:sp>
          <p:nvSpPr>
            <p:cNvPr name="Freeform 20" id="20"/>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p:spPr>
        </p:sp>
      </p:grpSp>
      <p:grpSp>
        <p:nvGrpSpPr>
          <p:cNvPr name="Group 21" id="21"/>
          <p:cNvGrpSpPr/>
          <p:nvPr/>
        </p:nvGrpSpPr>
        <p:grpSpPr>
          <a:xfrm rot="0">
            <a:off x="701040" y="9615688"/>
            <a:ext cx="5559381" cy="444141"/>
            <a:chOff x="0" y="0"/>
            <a:chExt cx="7412507" cy="592188"/>
          </a:xfrm>
        </p:grpSpPr>
        <p:sp>
          <p:nvSpPr>
            <p:cNvPr name="Freeform 22" id="22"/>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sp>
        <p:nvSpPr>
          <p:cNvPr name="TextBox 23" id="23"/>
          <p:cNvSpPr txBox="true"/>
          <p:nvPr/>
        </p:nvSpPr>
        <p:spPr>
          <a:xfrm rot="0">
            <a:off x="510745" y="466782"/>
            <a:ext cx="7776553" cy="1199331"/>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
        <p:nvSpPr>
          <p:cNvPr name="TextBox 24" id="24"/>
          <p:cNvSpPr txBox="true"/>
          <p:nvPr/>
        </p:nvSpPr>
        <p:spPr>
          <a:xfrm rot="0">
            <a:off x="510745" y="2018538"/>
            <a:ext cx="15891667" cy="3124962"/>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The project leverages industry-standard data science tools to process and analyze 4,000 farm records. Python serves as the core programming language, with Pandas enabling efficient data manipulation and preparation. Visualization libraries provide clear graphical representations of complex agricultural patterns. Code screenshots and exploratory analysis outputs are included as placeholders to demonstrate the analytical workflow applied throughout the project.</a:t>
            </a:r>
          </a:p>
        </p:txBody>
      </p:sp>
      <p:sp>
        <p:nvSpPr>
          <p:cNvPr name="TextBox 25" id="25"/>
          <p:cNvSpPr txBox="true"/>
          <p:nvPr/>
        </p:nvSpPr>
        <p:spPr>
          <a:xfrm rot="0">
            <a:off x="510745" y="5499273"/>
            <a:ext cx="15837346" cy="1553337"/>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Python &amp; Pandas:Data cleaning, missing value handling, outlier detection, and exploratory data analysis using Python and Pandas library.</a:t>
            </a:r>
          </a:p>
          <a:p>
            <a:pPr algn="l" marL="0" indent="0" lvl="0">
              <a:lnSpc>
                <a:spcPts val="4158"/>
              </a:lnSpc>
            </a:pPr>
          </a:p>
        </p:txBody>
      </p:sp>
      <p:sp>
        <p:nvSpPr>
          <p:cNvPr name="TextBox 26" id="26"/>
          <p:cNvSpPr txBox="true"/>
          <p:nvPr/>
        </p:nvSpPr>
        <p:spPr>
          <a:xfrm rot="0">
            <a:off x="510745" y="6750466"/>
            <a:ext cx="15837346" cy="1553337"/>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Matplotlib &amp; Seaborn:Interactive and publication-quality visualizations of seasonal trends, crop distributions, and regional performance using Matplotlib and Seaborn.</a:t>
            </a:r>
          </a:p>
          <a:p>
            <a:pPr algn="l" marL="0" indent="0" lvl="0">
              <a:lnSpc>
                <a:spcPts val="4158"/>
              </a:lnSpc>
            </a:pPr>
          </a:p>
        </p:txBody>
      </p:sp>
      <p:sp>
        <p:nvSpPr>
          <p:cNvPr name="TextBox 27" id="27"/>
          <p:cNvSpPr txBox="true"/>
          <p:nvPr/>
        </p:nvSpPr>
        <p:spPr>
          <a:xfrm rot="0">
            <a:off x="529467" y="7949957"/>
            <a:ext cx="15854222" cy="1553337"/>
          </a:xfrm>
          <a:prstGeom prst="rect">
            <a:avLst/>
          </a:prstGeom>
        </p:spPr>
        <p:txBody>
          <a:bodyPr anchor="t" rtlCol="false" tIns="0" lIns="0" bIns="0" rIns="0">
            <a:spAutoFit/>
          </a:bodyPr>
          <a:lstStyle/>
          <a:p>
            <a:pPr algn="l" marL="0" indent="0" lvl="0">
              <a:lnSpc>
                <a:spcPts val="4158"/>
              </a:lnSpc>
            </a:pPr>
            <a:r>
              <a:rPr lang="en-US" sz="2970">
                <a:solidFill>
                  <a:srgbClr val="2D3748"/>
                </a:solidFill>
                <a:latin typeface="Inter"/>
                <a:ea typeface="Inter"/>
                <a:cs typeface="Inter"/>
                <a:sym typeface="Inter"/>
              </a:rPr>
              <a:t>Statistical Analysis:Comparative and statistical analysis across seasons, crops, and regions to identify key performance drivers and economic patterns.</a:t>
            </a:r>
          </a:p>
          <a:p>
            <a:pPr algn="l" marL="0" indent="0" lvl="0">
              <a:lnSpc>
                <a:spcPts val="415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990590" y="9568358"/>
            <a:ext cx="4114800" cy="547688"/>
            <a:chOff x="0" y="0"/>
            <a:chExt cx="5486400" cy="730250"/>
          </a:xfrm>
        </p:grpSpPr>
        <p:sp>
          <p:nvSpPr>
            <p:cNvPr name="Freeform 19" id="1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0" id="20"/>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1" id="21"/>
          <p:cNvGrpSpPr/>
          <p:nvPr/>
        </p:nvGrpSpPr>
        <p:grpSpPr>
          <a:xfrm rot="0">
            <a:off x="2168290" y="9568358"/>
            <a:ext cx="6172200" cy="547688"/>
            <a:chOff x="0" y="0"/>
            <a:chExt cx="8229600" cy="730250"/>
          </a:xfrm>
        </p:grpSpPr>
        <p:sp>
          <p:nvSpPr>
            <p:cNvPr name="Freeform 22" id="22"/>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3" id="23"/>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4" id="24"/>
          <p:cNvGrpSpPr/>
          <p:nvPr/>
        </p:nvGrpSpPr>
        <p:grpSpPr>
          <a:xfrm rot="0">
            <a:off x="13208003" y="9568358"/>
            <a:ext cx="4114800" cy="547688"/>
            <a:chOff x="0" y="0"/>
            <a:chExt cx="5486400" cy="730250"/>
          </a:xfrm>
        </p:grpSpPr>
        <p:sp>
          <p:nvSpPr>
            <p:cNvPr name="Freeform 25" id="25"/>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6" id="26"/>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7" id="27"/>
          <p:cNvGrpSpPr/>
          <p:nvPr/>
        </p:nvGrpSpPr>
        <p:grpSpPr>
          <a:xfrm rot="0">
            <a:off x="1013936" y="9707880"/>
            <a:ext cx="3214688" cy="289560"/>
            <a:chOff x="0" y="0"/>
            <a:chExt cx="4286250" cy="386080"/>
          </a:xfrm>
        </p:grpSpPr>
        <p:sp>
          <p:nvSpPr>
            <p:cNvPr name="Freeform 28" id="28"/>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29" id="29"/>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grpSp>
        <p:nvGrpSpPr>
          <p:cNvPr name="Group 30" id="30"/>
          <p:cNvGrpSpPr/>
          <p:nvPr/>
        </p:nvGrpSpPr>
        <p:grpSpPr>
          <a:xfrm rot="0">
            <a:off x="502997" y="2518311"/>
            <a:ext cx="6534036" cy="2053689"/>
            <a:chOff x="0" y="0"/>
            <a:chExt cx="1720898" cy="540889"/>
          </a:xfrm>
        </p:grpSpPr>
        <p:sp>
          <p:nvSpPr>
            <p:cNvPr name="Freeform 31" id="31"/>
            <p:cNvSpPr/>
            <p:nvPr/>
          </p:nvSpPr>
          <p:spPr>
            <a:xfrm flipH="false" flipV="false" rot="0">
              <a:off x="0" y="0"/>
              <a:ext cx="1720898" cy="540889"/>
            </a:xfrm>
            <a:custGeom>
              <a:avLst/>
              <a:gdLst/>
              <a:ahLst/>
              <a:cxnLst/>
              <a:rect r="r" b="b" t="t" l="l"/>
              <a:pathLst>
                <a:path h="540889" w="1720898">
                  <a:moveTo>
                    <a:pt x="23697" y="0"/>
                  </a:moveTo>
                  <a:lnTo>
                    <a:pt x="1697201" y="0"/>
                  </a:lnTo>
                  <a:cubicBezTo>
                    <a:pt x="1710289" y="0"/>
                    <a:pt x="1720898" y="10610"/>
                    <a:pt x="1720898" y="23697"/>
                  </a:cubicBezTo>
                  <a:lnTo>
                    <a:pt x="1720898" y="517192"/>
                  </a:lnTo>
                  <a:cubicBezTo>
                    <a:pt x="1720898" y="530280"/>
                    <a:pt x="1710289" y="540889"/>
                    <a:pt x="1697201" y="540889"/>
                  </a:cubicBezTo>
                  <a:lnTo>
                    <a:pt x="23697" y="540889"/>
                  </a:lnTo>
                  <a:cubicBezTo>
                    <a:pt x="10610" y="540889"/>
                    <a:pt x="0" y="530280"/>
                    <a:pt x="0" y="517192"/>
                  </a:cubicBezTo>
                  <a:lnTo>
                    <a:pt x="0" y="23697"/>
                  </a:lnTo>
                  <a:cubicBezTo>
                    <a:pt x="0" y="10610"/>
                    <a:pt x="10610" y="0"/>
                    <a:pt x="23697" y="0"/>
                  </a:cubicBezTo>
                  <a:close/>
                </a:path>
              </a:pathLst>
            </a:custGeom>
            <a:solidFill>
              <a:srgbClr val="4F81BD">
                <a:alpha val="29804"/>
              </a:srgbClr>
            </a:solidFill>
          </p:spPr>
        </p:sp>
        <p:sp>
          <p:nvSpPr>
            <p:cNvPr name="TextBox 32" id="32"/>
            <p:cNvSpPr txBox="true"/>
            <p:nvPr/>
          </p:nvSpPr>
          <p:spPr>
            <a:xfrm>
              <a:off x="0" y="-38100"/>
              <a:ext cx="1720898" cy="578989"/>
            </a:xfrm>
            <a:prstGeom prst="rect">
              <a:avLst/>
            </a:prstGeom>
          </p:spPr>
          <p:txBody>
            <a:bodyPr anchor="ctr" rtlCol="false" tIns="50800" lIns="50800" bIns="50800" rIns="50800"/>
            <a:lstStyle/>
            <a:p>
              <a:pPr algn="ctr">
                <a:lnSpc>
                  <a:spcPts val="2659"/>
                </a:lnSpc>
              </a:pPr>
            </a:p>
            <a:p>
              <a:pPr algn="ctr" marL="0" indent="0" lvl="0">
                <a:lnSpc>
                  <a:spcPts val="2659"/>
                </a:lnSpc>
              </a:pPr>
            </a:p>
          </p:txBody>
        </p:sp>
      </p:grpSp>
      <p:grpSp>
        <p:nvGrpSpPr>
          <p:cNvPr name="Group 33" id="33"/>
          <p:cNvGrpSpPr/>
          <p:nvPr/>
        </p:nvGrpSpPr>
        <p:grpSpPr>
          <a:xfrm rot="0">
            <a:off x="502997" y="5334000"/>
            <a:ext cx="6534036" cy="2053689"/>
            <a:chOff x="0" y="0"/>
            <a:chExt cx="1720898" cy="540889"/>
          </a:xfrm>
        </p:grpSpPr>
        <p:sp>
          <p:nvSpPr>
            <p:cNvPr name="Freeform 34" id="34"/>
            <p:cNvSpPr/>
            <p:nvPr/>
          </p:nvSpPr>
          <p:spPr>
            <a:xfrm flipH="false" flipV="false" rot="0">
              <a:off x="0" y="0"/>
              <a:ext cx="1720898" cy="540889"/>
            </a:xfrm>
            <a:custGeom>
              <a:avLst/>
              <a:gdLst/>
              <a:ahLst/>
              <a:cxnLst/>
              <a:rect r="r" b="b" t="t" l="l"/>
              <a:pathLst>
                <a:path h="540889" w="1720898">
                  <a:moveTo>
                    <a:pt x="23697" y="0"/>
                  </a:moveTo>
                  <a:lnTo>
                    <a:pt x="1697201" y="0"/>
                  </a:lnTo>
                  <a:cubicBezTo>
                    <a:pt x="1710289" y="0"/>
                    <a:pt x="1720898" y="10610"/>
                    <a:pt x="1720898" y="23697"/>
                  </a:cubicBezTo>
                  <a:lnTo>
                    <a:pt x="1720898" y="517192"/>
                  </a:lnTo>
                  <a:cubicBezTo>
                    <a:pt x="1720898" y="530280"/>
                    <a:pt x="1710289" y="540889"/>
                    <a:pt x="1697201" y="540889"/>
                  </a:cubicBezTo>
                  <a:lnTo>
                    <a:pt x="23697" y="540889"/>
                  </a:lnTo>
                  <a:cubicBezTo>
                    <a:pt x="10610" y="540889"/>
                    <a:pt x="0" y="530280"/>
                    <a:pt x="0" y="517192"/>
                  </a:cubicBezTo>
                  <a:lnTo>
                    <a:pt x="0" y="23697"/>
                  </a:lnTo>
                  <a:cubicBezTo>
                    <a:pt x="0" y="10610"/>
                    <a:pt x="10610" y="0"/>
                    <a:pt x="23697" y="0"/>
                  </a:cubicBezTo>
                  <a:close/>
                </a:path>
              </a:pathLst>
            </a:custGeom>
            <a:solidFill>
              <a:srgbClr val="4F81BD">
                <a:alpha val="29804"/>
              </a:srgbClr>
            </a:solidFill>
          </p:spPr>
        </p:sp>
        <p:sp>
          <p:nvSpPr>
            <p:cNvPr name="TextBox 35" id="35"/>
            <p:cNvSpPr txBox="true"/>
            <p:nvPr/>
          </p:nvSpPr>
          <p:spPr>
            <a:xfrm>
              <a:off x="0" y="-38100"/>
              <a:ext cx="1720898" cy="578989"/>
            </a:xfrm>
            <a:prstGeom prst="rect">
              <a:avLst/>
            </a:prstGeom>
          </p:spPr>
          <p:txBody>
            <a:bodyPr anchor="ctr" rtlCol="false" tIns="50800" lIns="50800" bIns="50800" rIns="50800"/>
            <a:lstStyle/>
            <a:p>
              <a:pPr algn="ctr" marL="0" indent="0" lvl="0">
                <a:lnSpc>
                  <a:spcPts val="2659"/>
                </a:lnSpc>
              </a:pPr>
            </a:p>
          </p:txBody>
        </p:sp>
      </p:grpSp>
      <p:grpSp>
        <p:nvGrpSpPr>
          <p:cNvPr name="Group 36" id="36"/>
          <p:cNvGrpSpPr/>
          <p:nvPr/>
        </p:nvGrpSpPr>
        <p:grpSpPr>
          <a:xfrm rot="0">
            <a:off x="7515332" y="2518311"/>
            <a:ext cx="6534036" cy="2053689"/>
            <a:chOff x="0" y="0"/>
            <a:chExt cx="1720898" cy="540889"/>
          </a:xfrm>
        </p:grpSpPr>
        <p:sp>
          <p:nvSpPr>
            <p:cNvPr name="Freeform 37" id="37"/>
            <p:cNvSpPr/>
            <p:nvPr/>
          </p:nvSpPr>
          <p:spPr>
            <a:xfrm flipH="false" flipV="false" rot="0">
              <a:off x="0" y="0"/>
              <a:ext cx="1720898" cy="540889"/>
            </a:xfrm>
            <a:custGeom>
              <a:avLst/>
              <a:gdLst/>
              <a:ahLst/>
              <a:cxnLst/>
              <a:rect r="r" b="b" t="t" l="l"/>
              <a:pathLst>
                <a:path h="540889" w="1720898">
                  <a:moveTo>
                    <a:pt x="23697" y="0"/>
                  </a:moveTo>
                  <a:lnTo>
                    <a:pt x="1697201" y="0"/>
                  </a:lnTo>
                  <a:cubicBezTo>
                    <a:pt x="1710289" y="0"/>
                    <a:pt x="1720898" y="10610"/>
                    <a:pt x="1720898" y="23697"/>
                  </a:cubicBezTo>
                  <a:lnTo>
                    <a:pt x="1720898" y="517192"/>
                  </a:lnTo>
                  <a:cubicBezTo>
                    <a:pt x="1720898" y="530280"/>
                    <a:pt x="1710289" y="540889"/>
                    <a:pt x="1697201" y="540889"/>
                  </a:cubicBezTo>
                  <a:lnTo>
                    <a:pt x="23697" y="540889"/>
                  </a:lnTo>
                  <a:cubicBezTo>
                    <a:pt x="10610" y="540889"/>
                    <a:pt x="0" y="530280"/>
                    <a:pt x="0" y="517192"/>
                  </a:cubicBezTo>
                  <a:lnTo>
                    <a:pt x="0" y="23697"/>
                  </a:lnTo>
                  <a:cubicBezTo>
                    <a:pt x="0" y="10610"/>
                    <a:pt x="10610" y="0"/>
                    <a:pt x="23697" y="0"/>
                  </a:cubicBezTo>
                  <a:close/>
                </a:path>
              </a:pathLst>
            </a:custGeom>
            <a:solidFill>
              <a:srgbClr val="4F81BD">
                <a:alpha val="29804"/>
              </a:srgbClr>
            </a:solidFill>
          </p:spPr>
        </p:sp>
        <p:sp>
          <p:nvSpPr>
            <p:cNvPr name="TextBox 38" id="38"/>
            <p:cNvSpPr txBox="true"/>
            <p:nvPr/>
          </p:nvSpPr>
          <p:spPr>
            <a:xfrm>
              <a:off x="0" y="-38100"/>
              <a:ext cx="1720898" cy="578989"/>
            </a:xfrm>
            <a:prstGeom prst="rect">
              <a:avLst/>
            </a:prstGeom>
          </p:spPr>
          <p:txBody>
            <a:bodyPr anchor="ctr" rtlCol="false" tIns="50800" lIns="50800" bIns="50800" rIns="50800"/>
            <a:lstStyle/>
            <a:p>
              <a:pPr algn="ctr" marL="0" indent="0" lvl="0">
                <a:lnSpc>
                  <a:spcPts val="2659"/>
                </a:lnSpc>
              </a:pPr>
            </a:p>
          </p:txBody>
        </p:sp>
      </p:grpSp>
      <p:grpSp>
        <p:nvGrpSpPr>
          <p:cNvPr name="Group 39" id="39"/>
          <p:cNvGrpSpPr/>
          <p:nvPr/>
        </p:nvGrpSpPr>
        <p:grpSpPr>
          <a:xfrm rot="0">
            <a:off x="7515332" y="5282144"/>
            <a:ext cx="6534036" cy="2053689"/>
            <a:chOff x="0" y="0"/>
            <a:chExt cx="1720898" cy="540889"/>
          </a:xfrm>
        </p:grpSpPr>
        <p:sp>
          <p:nvSpPr>
            <p:cNvPr name="Freeform 40" id="40"/>
            <p:cNvSpPr/>
            <p:nvPr/>
          </p:nvSpPr>
          <p:spPr>
            <a:xfrm flipH="false" flipV="false" rot="0">
              <a:off x="0" y="0"/>
              <a:ext cx="1720898" cy="540889"/>
            </a:xfrm>
            <a:custGeom>
              <a:avLst/>
              <a:gdLst/>
              <a:ahLst/>
              <a:cxnLst/>
              <a:rect r="r" b="b" t="t" l="l"/>
              <a:pathLst>
                <a:path h="540889" w="1720898">
                  <a:moveTo>
                    <a:pt x="23697" y="0"/>
                  </a:moveTo>
                  <a:lnTo>
                    <a:pt x="1697201" y="0"/>
                  </a:lnTo>
                  <a:cubicBezTo>
                    <a:pt x="1710289" y="0"/>
                    <a:pt x="1720898" y="10610"/>
                    <a:pt x="1720898" y="23697"/>
                  </a:cubicBezTo>
                  <a:lnTo>
                    <a:pt x="1720898" y="517192"/>
                  </a:lnTo>
                  <a:cubicBezTo>
                    <a:pt x="1720898" y="530280"/>
                    <a:pt x="1710289" y="540889"/>
                    <a:pt x="1697201" y="540889"/>
                  </a:cubicBezTo>
                  <a:lnTo>
                    <a:pt x="23697" y="540889"/>
                  </a:lnTo>
                  <a:cubicBezTo>
                    <a:pt x="10610" y="540889"/>
                    <a:pt x="0" y="530280"/>
                    <a:pt x="0" y="517192"/>
                  </a:cubicBezTo>
                  <a:lnTo>
                    <a:pt x="0" y="23697"/>
                  </a:lnTo>
                  <a:cubicBezTo>
                    <a:pt x="0" y="10610"/>
                    <a:pt x="10610" y="0"/>
                    <a:pt x="23697" y="0"/>
                  </a:cubicBezTo>
                  <a:close/>
                </a:path>
              </a:pathLst>
            </a:custGeom>
            <a:solidFill>
              <a:srgbClr val="4F81BD">
                <a:alpha val="29804"/>
              </a:srgbClr>
            </a:solidFill>
          </p:spPr>
        </p:sp>
        <p:sp>
          <p:nvSpPr>
            <p:cNvPr name="TextBox 41" id="41"/>
            <p:cNvSpPr txBox="true"/>
            <p:nvPr/>
          </p:nvSpPr>
          <p:spPr>
            <a:xfrm>
              <a:off x="0" y="-38100"/>
              <a:ext cx="1720898" cy="578989"/>
            </a:xfrm>
            <a:prstGeom prst="rect">
              <a:avLst/>
            </a:prstGeom>
          </p:spPr>
          <p:txBody>
            <a:bodyPr anchor="ctr" rtlCol="false" tIns="50800" lIns="50800" bIns="50800" rIns="50800"/>
            <a:lstStyle/>
            <a:p>
              <a:pPr algn="ctr" marL="0" indent="0" lvl="0">
                <a:lnSpc>
                  <a:spcPts val="2659"/>
                </a:lnSpc>
              </a:pPr>
            </a:p>
          </p:txBody>
        </p:sp>
      </p:grpSp>
      <p:sp>
        <p:nvSpPr>
          <p:cNvPr name="TextBox 42" id="42"/>
          <p:cNvSpPr txBox="true"/>
          <p:nvPr/>
        </p:nvSpPr>
        <p:spPr>
          <a:xfrm rot="0">
            <a:off x="7743960" y="5476862"/>
            <a:ext cx="4987428" cy="412795"/>
          </a:xfrm>
          <a:prstGeom prst="rect">
            <a:avLst/>
          </a:prstGeom>
        </p:spPr>
        <p:txBody>
          <a:bodyPr anchor="t" rtlCol="false" tIns="0" lIns="0" bIns="0" rIns="0">
            <a:spAutoFit/>
          </a:bodyPr>
          <a:lstStyle/>
          <a:p>
            <a:pPr algn="l" marL="0" indent="0" lvl="0">
              <a:lnSpc>
                <a:spcPts val="3497"/>
              </a:lnSpc>
            </a:pPr>
            <a:r>
              <a:rPr lang="en-US" b="true" sz="2498">
                <a:solidFill>
                  <a:srgbClr val="2D3748"/>
                </a:solidFill>
                <a:latin typeface="Inter Bold"/>
                <a:ea typeface="Inter Bold"/>
                <a:cs typeface="Inter Bold"/>
                <a:sym typeface="Inter Bold"/>
              </a:rPr>
              <a:t>Efficiency &amp; Top Farm</a:t>
            </a:r>
          </a:p>
        </p:txBody>
      </p:sp>
      <p:sp>
        <p:nvSpPr>
          <p:cNvPr name="TextBox 43" id="43"/>
          <p:cNvSpPr txBox="true"/>
          <p:nvPr/>
        </p:nvSpPr>
        <p:spPr>
          <a:xfrm rot="0">
            <a:off x="7743960" y="5987815"/>
            <a:ext cx="6422710" cy="1289249"/>
          </a:xfrm>
          <a:prstGeom prst="rect">
            <a:avLst/>
          </a:prstGeom>
        </p:spPr>
        <p:txBody>
          <a:bodyPr anchor="t" rtlCol="false" tIns="0" lIns="0" bIns="0" rIns="0">
            <a:spAutoFit/>
          </a:bodyPr>
          <a:lstStyle/>
          <a:p>
            <a:pPr algn="l" marL="0" indent="0" lvl="0">
              <a:lnSpc>
                <a:spcPts val="3499"/>
              </a:lnSpc>
            </a:pPr>
            <a:r>
              <a:rPr lang="en-US" sz="2499">
                <a:solidFill>
                  <a:srgbClr val="2D3748"/>
                </a:solidFill>
                <a:latin typeface="Inter"/>
                <a:ea typeface="Inter"/>
                <a:cs typeface="Inter"/>
                <a:sym typeface="Inter"/>
              </a:rPr>
              <a:t>Avg. water efficiency: 5.39 t/1000 m³. Highest individual farm profit: ¤4,345,421.00.</a:t>
            </a:r>
          </a:p>
        </p:txBody>
      </p:sp>
      <p:sp>
        <p:nvSpPr>
          <p:cNvPr name="TextBox 44" id="44"/>
          <p:cNvSpPr txBox="true"/>
          <p:nvPr/>
        </p:nvSpPr>
        <p:spPr>
          <a:xfrm rot="0">
            <a:off x="7743960" y="2640499"/>
            <a:ext cx="4987428" cy="412795"/>
          </a:xfrm>
          <a:prstGeom prst="rect">
            <a:avLst/>
          </a:prstGeom>
        </p:spPr>
        <p:txBody>
          <a:bodyPr anchor="t" rtlCol="false" tIns="0" lIns="0" bIns="0" rIns="0">
            <a:spAutoFit/>
          </a:bodyPr>
          <a:lstStyle/>
          <a:p>
            <a:pPr algn="l" marL="0" indent="0" lvl="0">
              <a:lnSpc>
                <a:spcPts val="3497"/>
              </a:lnSpc>
            </a:pPr>
            <a:r>
              <a:rPr lang="en-US" b="true" sz="2498">
                <a:solidFill>
                  <a:srgbClr val="2D3748"/>
                </a:solidFill>
                <a:latin typeface="Inter Bold"/>
                <a:ea typeface="Inter Bold"/>
                <a:cs typeface="Inter Bold"/>
                <a:sym typeface="Inter Bold"/>
              </a:rPr>
              <a:t>Revenue &amp; Profit</a:t>
            </a:r>
          </a:p>
        </p:txBody>
      </p:sp>
      <p:sp>
        <p:nvSpPr>
          <p:cNvPr name="TextBox 45" id="45"/>
          <p:cNvSpPr txBox="true"/>
          <p:nvPr/>
        </p:nvSpPr>
        <p:spPr>
          <a:xfrm rot="0">
            <a:off x="7743960" y="3149401"/>
            <a:ext cx="6028256" cy="1289249"/>
          </a:xfrm>
          <a:prstGeom prst="rect">
            <a:avLst/>
          </a:prstGeom>
        </p:spPr>
        <p:txBody>
          <a:bodyPr anchor="t" rtlCol="false" tIns="0" lIns="0" bIns="0" rIns="0">
            <a:spAutoFit/>
          </a:bodyPr>
          <a:lstStyle/>
          <a:p>
            <a:pPr algn="l" marL="0" indent="0" lvl="0">
              <a:lnSpc>
                <a:spcPts val="3499"/>
              </a:lnSpc>
            </a:pPr>
            <a:r>
              <a:rPr lang="en-US" sz="2499">
                <a:solidFill>
                  <a:srgbClr val="2D3748"/>
                </a:solidFill>
                <a:latin typeface="Inter"/>
                <a:ea typeface="Inter"/>
                <a:cs typeface="Inter"/>
                <a:sym typeface="Inter"/>
              </a:rPr>
              <a:t>Total Revenue: ¤2,551,440,192.00</a:t>
            </a:r>
          </a:p>
          <a:p>
            <a:pPr algn="l" marL="0" indent="0" lvl="0">
              <a:lnSpc>
                <a:spcPts val="3499"/>
              </a:lnSpc>
            </a:pPr>
            <a:r>
              <a:rPr lang="en-US" sz="2499">
                <a:solidFill>
                  <a:srgbClr val="2D3748"/>
                </a:solidFill>
                <a:latin typeface="Inter"/>
                <a:ea typeface="Inter"/>
                <a:cs typeface="Inter"/>
                <a:sym typeface="Inter"/>
              </a:rPr>
              <a:t>Total Profit: ¤446,225,860.00 across all farms and seasons.</a:t>
            </a:r>
          </a:p>
        </p:txBody>
      </p:sp>
      <p:sp>
        <p:nvSpPr>
          <p:cNvPr name="TextBox 46" id="46"/>
          <p:cNvSpPr txBox="true"/>
          <p:nvPr/>
        </p:nvSpPr>
        <p:spPr>
          <a:xfrm rot="0">
            <a:off x="756454" y="2640499"/>
            <a:ext cx="4987428" cy="412795"/>
          </a:xfrm>
          <a:prstGeom prst="rect">
            <a:avLst/>
          </a:prstGeom>
        </p:spPr>
        <p:txBody>
          <a:bodyPr anchor="t" rtlCol="false" tIns="0" lIns="0" bIns="0" rIns="0">
            <a:spAutoFit/>
          </a:bodyPr>
          <a:lstStyle/>
          <a:p>
            <a:pPr algn="l" marL="0" indent="0" lvl="0">
              <a:lnSpc>
                <a:spcPts val="3497"/>
              </a:lnSpc>
            </a:pPr>
            <a:r>
              <a:rPr lang="en-US" b="true" sz="2498">
                <a:solidFill>
                  <a:srgbClr val="2D3748"/>
                </a:solidFill>
                <a:latin typeface="Inter Bold"/>
                <a:ea typeface="Inter Bold"/>
                <a:cs typeface="Inter Bold"/>
                <a:sym typeface="Inter Bold"/>
              </a:rPr>
              <a:t>Dataset Scale</a:t>
            </a:r>
          </a:p>
        </p:txBody>
      </p:sp>
      <p:sp>
        <p:nvSpPr>
          <p:cNvPr name="TextBox 47" id="47"/>
          <p:cNvSpPr txBox="true"/>
          <p:nvPr/>
        </p:nvSpPr>
        <p:spPr>
          <a:xfrm rot="0">
            <a:off x="756454" y="3219116"/>
            <a:ext cx="6406453" cy="1289249"/>
          </a:xfrm>
          <a:prstGeom prst="rect">
            <a:avLst/>
          </a:prstGeom>
        </p:spPr>
        <p:txBody>
          <a:bodyPr anchor="t" rtlCol="false" tIns="0" lIns="0" bIns="0" rIns="0">
            <a:spAutoFit/>
          </a:bodyPr>
          <a:lstStyle/>
          <a:p>
            <a:pPr algn="l" marL="0" indent="0" lvl="0">
              <a:lnSpc>
                <a:spcPts val="3499"/>
              </a:lnSpc>
            </a:pPr>
            <a:r>
              <a:rPr lang="en-US" sz="2499">
                <a:solidFill>
                  <a:srgbClr val="2D3748"/>
                </a:solidFill>
                <a:latin typeface="Inter"/>
                <a:ea typeface="Inter"/>
                <a:cs typeface="Inter"/>
                <a:sym typeface="Inter"/>
              </a:rPr>
              <a:t>4,000 farm records across 8 states and 8 crop types, providing a comprehensive basis for seasonal performance analysis.</a:t>
            </a:r>
          </a:p>
        </p:txBody>
      </p:sp>
      <p:sp>
        <p:nvSpPr>
          <p:cNvPr name="TextBox 48" id="48"/>
          <p:cNvSpPr txBox="true"/>
          <p:nvPr/>
        </p:nvSpPr>
        <p:spPr>
          <a:xfrm rot="0">
            <a:off x="756454" y="5476862"/>
            <a:ext cx="4987428" cy="412795"/>
          </a:xfrm>
          <a:prstGeom prst="rect">
            <a:avLst/>
          </a:prstGeom>
        </p:spPr>
        <p:txBody>
          <a:bodyPr anchor="t" rtlCol="false" tIns="0" lIns="0" bIns="0" rIns="0">
            <a:spAutoFit/>
          </a:bodyPr>
          <a:lstStyle/>
          <a:p>
            <a:pPr algn="l" marL="0" indent="0" lvl="0">
              <a:lnSpc>
                <a:spcPts val="3497"/>
              </a:lnSpc>
            </a:pPr>
            <a:r>
              <a:rPr lang="en-US" b="true" sz="2498">
                <a:solidFill>
                  <a:srgbClr val="2D3748"/>
                </a:solidFill>
                <a:latin typeface="Inter Bold"/>
                <a:ea typeface="Inter Bold"/>
                <a:cs typeface="Inter Bold"/>
                <a:sym typeface="Inter Bold"/>
              </a:rPr>
              <a:t>Seasonal &amp; Irrigation</a:t>
            </a:r>
          </a:p>
        </p:txBody>
      </p:sp>
      <p:sp>
        <p:nvSpPr>
          <p:cNvPr name="TextBox 49" id="49"/>
          <p:cNvSpPr txBox="true"/>
          <p:nvPr/>
        </p:nvSpPr>
        <p:spPr>
          <a:xfrm rot="0">
            <a:off x="756454" y="5987815"/>
            <a:ext cx="6424955" cy="1289249"/>
          </a:xfrm>
          <a:prstGeom prst="rect">
            <a:avLst/>
          </a:prstGeom>
        </p:spPr>
        <p:txBody>
          <a:bodyPr anchor="t" rtlCol="false" tIns="0" lIns="0" bIns="0" rIns="0">
            <a:spAutoFit/>
          </a:bodyPr>
          <a:lstStyle/>
          <a:p>
            <a:pPr algn="l" marL="0" indent="0" lvl="0">
              <a:lnSpc>
                <a:spcPts val="3499"/>
              </a:lnSpc>
            </a:pPr>
            <a:r>
              <a:rPr lang="en-US" sz="2499">
                <a:solidFill>
                  <a:srgbClr val="2D3748"/>
                </a:solidFill>
                <a:latin typeface="Inter"/>
                <a:ea typeface="Inter"/>
                <a:cs typeface="Inter"/>
                <a:sym typeface="Inter"/>
              </a:rPr>
              <a:t>Kharif season: 44.5% of farms. Flood irrigation used on 32.8% of all farms surveyed.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031687" y="8846610"/>
            <a:ext cx="269967" cy="269967"/>
            <a:chOff x="0" y="0"/>
            <a:chExt cx="359956" cy="359956"/>
          </a:xfrm>
        </p:grpSpPr>
        <p:sp>
          <p:nvSpPr>
            <p:cNvPr name="Freeform 32" id="32"/>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3" id="33"/>
          <p:cNvGrpSpPr/>
          <p:nvPr/>
        </p:nvGrpSpPr>
        <p:grpSpPr>
          <a:xfrm rot="0">
            <a:off x="1013936" y="9707880"/>
            <a:ext cx="3214688" cy="289560"/>
            <a:chOff x="0" y="0"/>
            <a:chExt cx="4286250" cy="386080"/>
          </a:xfrm>
        </p:grpSpPr>
        <p:sp>
          <p:nvSpPr>
            <p:cNvPr name="Freeform 34" id="34"/>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5" id="35"/>
          <p:cNvSpPr/>
          <p:nvPr/>
        </p:nvSpPr>
        <p:spPr>
          <a:xfrm flipH="false" flipV="false" rot="0">
            <a:off x="2168290" y="1819520"/>
            <a:ext cx="7565781" cy="8033140"/>
          </a:xfrm>
          <a:custGeom>
            <a:avLst/>
            <a:gdLst/>
            <a:ahLst/>
            <a:cxnLst/>
            <a:rect r="r" b="b" t="t" l="l"/>
            <a:pathLst>
              <a:path h="8033140" w="7565781">
                <a:moveTo>
                  <a:pt x="0" y="0"/>
                </a:moveTo>
                <a:lnTo>
                  <a:pt x="7565782" y="0"/>
                </a:lnTo>
                <a:lnTo>
                  <a:pt x="7565782" y="8033140"/>
                </a:lnTo>
                <a:lnTo>
                  <a:pt x="0" y="8033140"/>
                </a:lnTo>
                <a:lnTo>
                  <a:pt x="0" y="0"/>
                </a:lnTo>
                <a:close/>
              </a:path>
            </a:pathLst>
          </a:custGeom>
          <a:blipFill>
            <a:blip r:embed="rId4"/>
            <a:stretch>
              <a:fillRect l="-1081" t="-10443" r="-3632" b="0"/>
            </a:stretch>
          </a:blipFill>
        </p:spPr>
      </p:sp>
      <p:sp>
        <p:nvSpPr>
          <p:cNvPr name="TextBox 36" id="36"/>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5686521" y="0"/>
            <a:ext cx="5892708" cy="10116045"/>
          </a:xfrm>
          <a:custGeom>
            <a:avLst/>
            <a:gdLst/>
            <a:ahLst/>
            <a:cxnLst/>
            <a:rect r="r" b="b" t="t" l="l"/>
            <a:pathLst>
              <a:path h="10116045" w="5892708">
                <a:moveTo>
                  <a:pt x="0" y="0"/>
                </a:moveTo>
                <a:lnTo>
                  <a:pt x="5892707" y="0"/>
                </a:lnTo>
                <a:lnTo>
                  <a:pt x="5892707" y="10116045"/>
                </a:lnTo>
                <a:lnTo>
                  <a:pt x="0" y="10116045"/>
                </a:lnTo>
                <a:lnTo>
                  <a:pt x="0" y="0"/>
                </a:lnTo>
                <a:close/>
              </a:path>
            </a:pathLst>
          </a:custGeom>
          <a:blipFill>
            <a:blip r:embed="rId4"/>
            <a:stretch>
              <a:fillRect l="0" t="-285" r="-3839" b="-162"/>
            </a:stretch>
          </a:blipFill>
        </p:spPr>
      </p:sp>
      <p:sp>
        <p:nvSpPr>
          <p:cNvPr name="TextBox 38" id="38"/>
          <p:cNvSpPr txBox="true"/>
          <p:nvPr/>
        </p:nvSpPr>
        <p:spPr>
          <a:xfrm rot="0">
            <a:off x="815807" y="432121"/>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Freeform 37" id="37"/>
          <p:cNvSpPr/>
          <p:nvPr/>
        </p:nvSpPr>
        <p:spPr>
          <a:xfrm flipH="false" flipV="false" rot="0">
            <a:off x="2168290" y="1944593"/>
            <a:ext cx="6242123" cy="7763287"/>
          </a:xfrm>
          <a:custGeom>
            <a:avLst/>
            <a:gdLst/>
            <a:ahLst/>
            <a:cxnLst/>
            <a:rect r="r" b="b" t="t" l="l"/>
            <a:pathLst>
              <a:path h="7763287" w="6242123">
                <a:moveTo>
                  <a:pt x="0" y="0"/>
                </a:moveTo>
                <a:lnTo>
                  <a:pt x="6242123" y="0"/>
                </a:lnTo>
                <a:lnTo>
                  <a:pt x="6242123" y="7763287"/>
                </a:lnTo>
                <a:lnTo>
                  <a:pt x="0" y="7763287"/>
                </a:lnTo>
                <a:lnTo>
                  <a:pt x="0" y="0"/>
                </a:lnTo>
                <a:close/>
              </a:path>
            </a:pathLst>
          </a:custGeom>
          <a:blipFill>
            <a:blip r:embed="rId4"/>
            <a:stretch>
              <a:fillRect l="0" t="-1065" r="-14317" b="-1065"/>
            </a:stretch>
          </a:blipFill>
        </p:spPr>
      </p:sp>
      <p:sp>
        <p:nvSpPr>
          <p:cNvPr name="TextBox 38" id="38"/>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031687" y="8846610"/>
            <a:ext cx="269967" cy="269967"/>
            <a:chOff x="0" y="0"/>
            <a:chExt cx="359956" cy="359956"/>
          </a:xfrm>
        </p:grpSpPr>
        <p:sp>
          <p:nvSpPr>
            <p:cNvPr name="Freeform 32" id="32"/>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3" id="33"/>
          <p:cNvGrpSpPr/>
          <p:nvPr/>
        </p:nvGrpSpPr>
        <p:grpSpPr>
          <a:xfrm rot="0">
            <a:off x="1013936" y="9707880"/>
            <a:ext cx="3214688" cy="289560"/>
            <a:chOff x="0" y="0"/>
            <a:chExt cx="4286250" cy="386080"/>
          </a:xfrm>
        </p:grpSpPr>
        <p:sp>
          <p:nvSpPr>
            <p:cNvPr name="Freeform 34" id="34"/>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5" id="35"/>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Future scope</a:t>
            </a:r>
          </a:p>
        </p:txBody>
      </p:sp>
      <p:sp>
        <p:nvSpPr>
          <p:cNvPr name="TextBox 36" id="36"/>
          <p:cNvSpPr txBox="true"/>
          <p:nvPr/>
        </p:nvSpPr>
        <p:spPr>
          <a:xfrm rot="0">
            <a:off x="1239789" y="2548086"/>
            <a:ext cx="11250309" cy="4933587"/>
          </a:xfrm>
          <a:prstGeom prst="rect">
            <a:avLst/>
          </a:prstGeom>
        </p:spPr>
        <p:txBody>
          <a:bodyPr anchor="t" rtlCol="false" tIns="0" lIns="0" bIns="0" rIns="0">
            <a:spAutoFit/>
          </a:bodyPr>
          <a:lstStyle/>
          <a:p>
            <a:pPr algn="l" marL="641223" indent="-320612" lvl="1">
              <a:lnSpc>
                <a:spcPts val="3564"/>
              </a:lnSpc>
              <a:buFont typeface="Arial"/>
              <a:buChar char="•"/>
            </a:pPr>
            <a:r>
              <a:rPr lang="en-US" sz="2970">
                <a:solidFill>
                  <a:srgbClr val="000000"/>
                </a:solidFill>
                <a:latin typeface="Trebuchet MS"/>
                <a:ea typeface="Trebuchet MS"/>
                <a:cs typeface="Trebuchet MS"/>
                <a:sym typeface="Trebuchet MS"/>
              </a:rPr>
              <a:t>Predictive Machine Learning: Develop XGBoost and LightGBM regression models to forecast seasonal crop yields and profit margins prior to planting using weather forecasts. </a:t>
            </a:r>
          </a:p>
          <a:p>
            <a:pPr algn="l">
              <a:lnSpc>
                <a:spcPts val="3564"/>
              </a:lnSpc>
            </a:pPr>
          </a:p>
          <a:p>
            <a:pPr algn="l" marL="641223" indent="-320612" lvl="1">
              <a:lnSpc>
                <a:spcPts val="3564"/>
              </a:lnSpc>
              <a:buFont typeface="Arial"/>
              <a:buChar char="•"/>
            </a:pPr>
            <a:r>
              <a:rPr lang="en-US" sz="2970">
                <a:solidFill>
                  <a:srgbClr val="000000"/>
                </a:solidFill>
                <a:latin typeface="Trebuchet MS"/>
                <a:ea typeface="Trebuchet MS"/>
                <a:cs typeface="Trebuchet MS"/>
                <a:sym typeface="Trebuchet MS"/>
              </a:rPr>
              <a:t>Real-Time IoT Integration: Connect live soil moisture and micro-climate IoT sensor feeds to enable dynamic, automated irrigation scheduling.</a:t>
            </a:r>
          </a:p>
          <a:p>
            <a:pPr algn="l">
              <a:lnSpc>
                <a:spcPts val="3564"/>
              </a:lnSpc>
            </a:pPr>
            <a:r>
              <a:rPr lang="en-US" sz="2970">
                <a:solidFill>
                  <a:srgbClr val="000000"/>
                </a:solidFill>
                <a:latin typeface="Trebuchet MS"/>
                <a:ea typeface="Trebuchet MS"/>
                <a:cs typeface="Trebuchet MS"/>
                <a:sym typeface="Trebuchet MS"/>
              </a:rPr>
              <a:t> </a:t>
            </a:r>
          </a:p>
          <a:p>
            <a:pPr algn="l" marL="641223" indent="-320612" lvl="1">
              <a:lnSpc>
                <a:spcPts val="3564"/>
              </a:lnSpc>
              <a:buFont typeface="Arial"/>
              <a:buChar char="•"/>
            </a:pPr>
            <a:r>
              <a:rPr lang="en-US" sz="2970">
                <a:solidFill>
                  <a:srgbClr val="000000"/>
                </a:solidFill>
                <a:latin typeface="Trebuchet MS"/>
                <a:ea typeface="Trebuchet MS"/>
                <a:cs typeface="Trebuchet MS"/>
                <a:sym typeface="Trebuchet MS"/>
              </a:rPr>
              <a:t>GIS Spatial Dashboards: Build interactive district-level maps to provide localized crop advisories and precision farming recommendations for strategic agricultural planning.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4031687" y="8846610"/>
            <a:ext cx="269967" cy="269967"/>
            <a:chOff x="0" y="0"/>
            <a:chExt cx="359956" cy="359956"/>
          </a:xfrm>
        </p:grpSpPr>
        <p:sp>
          <p:nvSpPr>
            <p:cNvPr name="Freeform 32" id="32"/>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3" id="33"/>
          <p:cNvGrpSpPr/>
          <p:nvPr/>
        </p:nvGrpSpPr>
        <p:grpSpPr>
          <a:xfrm rot="0">
            <a:off x="1013936" y="9707880"/>
            <a:ext cx="3214688" cy="289560"/>
            <a:chOff x="0" y="0"/>
            <a:chExt cx="4286250" cy="386080"/>
          </a:xfrm>
        </p:grpSpPr>
        <p:sp>
          <p:nvSpPr>
            <p:cNvPr name="Freeform 34" id="34"/>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5" id="35"/>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GitHub Link</a:t>
            </a:r>
          </a:p>
        </p:txBody>
      </p:sp>
      <p:sp>
        <p:nvSpPr>
          <p:cNvPr name="TextBox 36" id="36"/>
          <p:cNvSpPr txBox="true"/>
          <p:nvPr/>
        </p:nvSpPr>
        <p:spPr>
          <a:xfrm rot="0">
            <a:off x="1400900" y="2956594"/>
            <a:ext cx="10666428" cy="828741"/>
          </a:xfrm>
          <a:prstGeom prst="rect">
            <a:avLst/>
          </a:prstGeom>
        </p:spPr>
        <p:txBody>
          <a:bodyPr anchor="t" rtlCol="false" tIns="0" lIns="0" bIns="0" rIns="0">
            <a:spAutoFit/>
          </a:bodyPr>
          <a:lstStyle/>
          <a:p>
            <a:pPr algn="l">
              <a:lnSpc>
                <a:spcPts val="3240"/>
              </a:lnSpc>
            </a:pPr>
            <a:r>
              <a:rPr lang="en-US" sz="2700">
                <a:solidFill>
                  <a:srgbClr val="000000"/>
                </a:solidFill>
                <a:latin typeface="Trebuchet MS"/>
                <a:ea typeface="Trebuchet MS"/>
                <a:cs typeface="Trebuchet MS"/>
                <a:sym typeface="Trebuchet MS"/>
              </a:rPr>
              <a:t>https://github.com/goodboyaz/Data-Analysis-project</a:t>
            </a:r>
          </a:p>
          <a:p>
            <a:pPr algn="l">
              <a:lnSpc>
                <a:spcPts val="324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69621" y="1"/>
            <a:ext cx="14548761" cy="10287003"/>
            <a:chOff x="0" y="0"/>
            <a:chExt cx="14256004" cy="10080003"/>
          </a:xfrm>
        </p:grpSpPr>
        <p:sp>
          <p:nvSpPr>
            <p:cNvPr name="Freeform 3" id="3"/>
            <p:cNvSpPr/>
            <p:nvPr/>
          </p:nvSpPr>
          <p:spPr>
            <a:xfrm flipH="false" flipV="false" rot="0">
              <a:off x="0" y="0"/>
              <a:ext cx="14256004" cy="10079990"/>
            </a:xfrm>
            <a:custGeom>
              <a:avLst/>
              <a:gdLst/>
              <a:ahLst/>
              <a:cxnLst/>
              <a:rect r="r" b="b" t="t" l="l"/>
              <a:pathLst>
                <a:path h="10079990" w="14256004">
                  <a:moveTo>
                    <a:pt x="0" y="0"/>
                  </a:moveTo>
                  <a:lnTo>
                    <a:pt x="14256004" y="0"/>
                  </a:lnTo>
                  <a:lnTo>
                    <a:pt x="14256004" y="10079990"/>
                  </a:lnTo>
                  <a:lnTo>
                    <a:pt x="0" y="10079990"/>
                  </a:lnTo>
                  <a:lnTo>
                    <a:pt x="0" y="0"/>
                  </a:lnTo>
                  <a:close/>
                </a:path>
              </a:pathLst>
            </a:custGeom>
            <a:blipFill>
              <a:blip r:embed="rId2"/>
              <a:stretch>
                <a:fillRect l="0" t="0" r="0" b="0"/>
              </a:stretch>
            </a:blipFill>
          </p:spPr>
        </p:sp>
      </p:grpSp>
      <p:grpSp>
        <p:nvGrpSpPr>
          <p:cNvPr name="Group 4" id="4"/>
          <p:cNvGrpSpPr/>
          <p:nvPr/>
        </p:nvGrpSpPr>
        <p:grpSpPr>
          <a:xfrm rot="0">
            <a:off x="2604408" y="7739738"/>
            <a:ext cx="1714494" cy="1714494"/>
            <a:chOff x="0" y="0"/>
            <a:chExt cx="1679994" cy="1679994"/>
          </a:xfrm>
        </p:grpSpPr>
        <p:sp>
          <p:nvSpPr>
            <p:cNvPr name="Freeform 5" id="5"/>
            <p:cNvSpPr/>
            <p:nvPr/>
          </p:nvSpPr>
          <p:spPr>
            <a:xfrm flipH="false" flipV="false" rot="0">
              <a:off x="0" y="0"/>
              <a:ext cx="1679956" cy="1679956"/>
            </a:xfrm>
            <a:custGeom>
              <a:avLst/>
              <a:gdLst/>
              <a:ahLst/>
              <a:cxnLst/>
              <a:rect r="r" b="b" t="t" l="l"/>
              <a:pathLst>
                <a:path h="1679956" w="1679956">
                  <a:moveTo>
                    <a:pt x="0" y="0"/>
                  </a:moveTo>
                  <a:lnTo>
                    <a:pt x="1679956" y="0"/>
                  </a:lnTo>
                  <a:lnTo>
                    <a:pt x="1679956" y="1679956"/>
                  </a:lnTo>
                  <a:lnTo>
                    <a:pt x="0" y="1679956"/>
                  </a:lnTo>
                  <a:lnTo>
                    <a:pt x="0" y="0"/>
                  </a:lnTo>
                  <a:close/>
                </a:path>
              </a:pathLst>
            </a:custGeom>
            <a:blipFill>
              <a:blip r:embed="rId3"/>
              <a:stretch>
                <a:fillRect l="0" t="0" r="-2" b="-2"/>
              </a:stretch>
            </a:blipFill>
          </p:spPr>
        </p:sp>
      </p:grpSp>
      <p:grpSp>
        <p:nvGrpSpPr>
          <p:cNvPr name="Group 6" id="6"/>
          <p:cNvGrpSpPr/>
          <p:nvPr/>
        </p:nvGrpSpPr>
        <p:grpSpPr>
          <a:xfrm rot="0">
            <a:off x="1869621" y="1"/>
            <a:ext cx="14548761" cy="10287003"/>
            <a:chOff x="0" y="0"/>
            <a:chExt cx="14256004" cy="10080003"/>
          </a:xfrm>
        </p:grpSpPr>
        <p:sp>
          <p:nvSpPr>
            <p:cNvPr name="Freeform 7" id="7"/>
            <p:cNvSpPr/>
            <p:nvPr/>
          </p:nvSpPr>
          <p:spPr>
            <a:xfrm flipH="false" flipV="false" rot="0">
              <a:off x="0" y="0"/>
              <a:ext cx="14256004" cy="10079990"/>
            </a:xfrm>
            <a:custGeom>
              <a:avLst/>
              <a:gdLst/>
              <a:ahLst/>
              <a:cxnLst/>
              <a:rect r="r" b="b" t="t" l="l"/>
              <a:pathLst>
                <a:path h="10079990" w="14256004">
                  <a:moveTo>
                    <a:pt x="0" y="0"/>
                  </a:moveTo>
                  <a:lnTo>
                    <a:pt x="14256004" y="0"/>
                  </a:lnTo>
                  <a:lnTo>
                    <a:pt x="14256004" y="10079990"/>
                  </a:lnTo>
                  <a:lnTo>
                    <a:pt x="0" y="10079990"/>
                  </a:lnTo>
                  <a:lnTo>
                    <a:pt x="0" y="0"/>
                  </a:lnTo>
                  <a:close/>
                </a:path>
              </a:pathLst>
            </a:custGeom>
            <a:blipFill>
              <a:blip r:embed="rId2"/>
              <a:stretch>
                <a:fillRect l="0" t="0" r="0" b="0"/>
              </a:stretch>
            </a:blipFill>
          </p:spPr>
        </p:sp>
      </p:grpSp>
      <p:grpSp>
        <p:nvGrpSpPr>
          <p:cNvPr name="Group 8" id="8"/>
          <p:cNvGrpSpPr/>
          <p:nvPr/>
        </p:nvGrpSpPr>
        <p:grpSpPr>
          <a:xfrm rot="0">
            <a:off x="2604408" y="7739738"/>
            <a:ext cx="1714494" cy="1714494"/>
            <a:chOff x="0" y="0"/>
            <a:chExt cx="1679994" cy="1679994"/>
          </a:xfrm>
        </p:grpSpPr>
        <p:sp>
          <p:nvSpPr>
            <p:cNvPr name="Freeform 9" id="9"/>
            <p:cNvSpPr/>
            <p:nvPr/>
          </p:nvSpPr>
          <p:spPr>
            <a:xfrm flipH="false" flipV="false" rot="0">
              <a:off x="0" y="0"/>
              <a:ext cx="1679956" cy="1679956"/>
            </a:xfrm>
            <a:custGeom>
              <a:avLst/>
              <a:gdLst/>
              <a:ahLst/>
              <a:cxnLst/>
              <a:rect r="r" b="b" t="t" l="l"/>
              <a:pathLst>
                <a:path h="1679956" w="1679956">
                  <a:moveTo>
                    <a:pt x="0" y="0"/>
                  </a:moveTo>
                  <a:lnTo>
                    <a:pt x="1679956" y="0"/>
                  </a:lnTo>
                  <a:lnTo>
                    <a:pt x="1679956" y="1679956"/>
                  </a:lnTo>
                  <a:lnTo>
                    <a:pt x="0" y="1679956"/>
                  </a:lnTo>
                  <a:lnTo>
                    <a:pt x="0" y="0"/>
                  </a:lnTo>
                  <a:close/>
                </a:path>
              </a:pathLst>
            </a:custGeom>
            <a:blipFill>
              <a:blip r:embed="rId3"/>
              <a:stretch>
                <a:fillRect l="0" t="0" r="-2" b="-2"/>
              </a:stretch>
            </a:blipFill>
          </p:spPr>
        </p:sp>
      </p:grpSp>
      <p:sp>
        <p:nvSpPr>
          <p:cNvPr name="TextBox 10" id="10"/>
          <p:cNvSpPr txBox="true"/>
          <p:nvPr/>
        </p:nvSpPr>
        <p:spPr>
          <a:xfrm rot="0">
            <a:off x="7713855" y="4469176"/>
            <a:ext cx="3081742" cy="734522"/>
          </a:xfrm>
          <a:prstGeom prst="rect">
            <a:avLst/>
          </a:prstGeom>
        </p:spPr>
        <p:txBody>
          <a:bodyPr anchor="t" rtlCol="false" tIns="0" lIns="0" bIns="0" rIns="0">
            <a:spAutoFit/>
          </a:bodyPr>
          <a:lstStyle/>
          <a:p>
            <a:pPr algn="l">
              <a:lnSpc>
                <a:spcPts val="4190"/>
              </a:lnSpc>
            </a:pPr>
            <a:r>
              <a:rPr lang="en-US" b="true" sz="2993">
                <a:solidFill>
                  <a:srgbClr val="EB4048"/>
                </a:solidFill>
                <a:latin typeface="Helvetica World Bold"/>
                <a:ea typeface="Helvetica World Bold"/>
                <a:cs typeface="Helvetica World Bold"/>
                <a:sym typeface="Helvetica World Bold"/>
              </a:rPr>
              <a:t>Chaitanya Kawle</a:t>
            </a:r>
          </a:p>
        </p:txBody>
      </p:sp>
      <p:sp>
        <p:nvSpPr>
          <p:cNvPr name="TextBox 11" id="11"/>
          <p:cNvSpPr txBox="true"/>
          <p:nvPr/>
        </p:nvSpPr>
        <p:spPr>
          <a:xfrm rot="0">
            <a:off x="7892364" y="6279813"/>
            <a:ext cx="2715288" cy="609631"/>
          </a:xfrm>
          <a:prstGeom prst="rect">
            <a:avLst/>
          </a:prstGeom>
        </p:spPr>
        <p:txBody>
          <a:bodyPr anchor="t" rtlCol="false" tIns="0" lIns="0" bIns="0" rIns="0">
            <a:spAutoFit/>
          </a:bodyPr>
          <a:lstStyle/>
          <a:p>
            <a:pPr algn="l">
              <a:lnSpc>
                <a:spcPts val="3429"/>
              </a:lnSpc>
            </a:pPr>
            <a:r>
              <a:rPr lang="en-US" b="true" sz="2449">
                <a:solidFill>
                  <a:srgbClr val="343434"/>
                </a:solidFill>
                <a:latin typeface="Helvetica World Bold"/>
                <a:ea typeface="Helvetica World Bold"/>
                <a:cs typeface="Helvetica World Bold"/>
                <a:sym typeface="Helvetica World Bold"/>
              </a:rPr>
              <a:t>Data Visualization</a:t>
            </a:r>
          </a:p>
        </p:txBody>
      </p:sp>
      <p:sp>
        <p:nvSpPr>
          <p:cNvPr name="TextBox 12" id="12"/>
          <p:cNvSpPr txBox="true"/>
          <p:nvPr/>
        </p:nvSpPr>
        <p:spPr>
          <a:xfrm rot="0">
            <a:off x="10155852" y="6897783"/>
            <a:ext cx="68602" cy="438226"/>
          </a:xfrm>
          <a:prstGeom prst="rect">
            <a:avLst/>
          </a:prstGeom>
        </p:spPr>
        <p:txBody>
          <a:bodyPr anchor="t" rtlCol="false" tIns="0" lIns="0" bIns="0" rIns="0">
            <a:spAutoFit/>
          </a:bodyPr>
          <a:lstStyle/>
          <a:p>
            <a:pPr algn="l">
              <a:lnSpc>
                <a:spcPts val="2667"/>
              </a:lnSpc>
            </a:pPr>
            <a:r>
              <a:rPr lang="en-US" sz="1905">
                <a:solidFill>
                  <a:srgbClr val="343434"/>
                </a:solidFill>
                <a:latin typeface="Helvetica World"/>
                <a:ea typeface="Helvetica World"/>
                <a:cs typeface="Helvetica World"/>
                <a:sym typeface="Helvetica World"/>
              </a:rPr>
              <a:t> </a:t>
            </a:r>
          </a:p>
        </p:txBody>
      </p:sp>
      <p:sp>
        <p:nvSpPr>
          <p:cNvPr name="TextBox 13" id="13"/>
          <p:cNvSpPr txBox="true"/>
          <p:nvPr/>
        </p:nvSpPr>
        <p:spPr>
          <a:xfrm rot="0">
            <a:off x="8972544" y="6897783"/>
            <a:ext cx="2098808" cy="438226"/>
          </a:xfrm>
          <a:prstGeom prst="rect">
            <a:avLst/>
          </a:prstGeom>
        </p:spPr>
        <p:txBody>
          <a:bodyPr anchor="t" rtlCol="false" tIns="0" lIns="0" bIns="0" rIns="0">
            <a:spAutoFit/>
          </a:bodyPr>
          <a:lstStyle/>
          <a:p>
            <a:pPr algn="l">
              <a:lnSpc>
                <a:spcPts val="2667"/>
              </a:lnSpc>
            </a:pPr>
            <a:r>
              <a:rPr lang="en-US" sz="1905">
                <a:solidFill>
                  <a:srgbClr val="343434"/>
                </a:solidFill>
                <a:latin typeface="Helvetica World"/>
                <a:ea typeface="Helvetica World"/>
                <a:cs typeface="Helvetica World"/>
                <a:sym typeface="Helvetica World"/>
              </a:rPr>
              <a:t>September</a:t>
            </a:r>
            <a:r>
              <a:rPr lang="en-US" sz="1905">
                <a:solidFill>
                  <a:srgbClr val="000000"/>
                </a:solidFill>
                <a:latin typeface="Helvetica World"/>
                <a:ea typeface="Helvetica World"/>
                <a:cs typeface="Helvetica World"/>
                <a:sym typeface="Helvetica World"/>
              </a:rPr>
              <a:t> </a:t>
            </a:r>
            <a:r>
              <a:rPr lang="en-US" sz="1905">
                <a:solidFill>
                  <a:srgbClr val="343434"/>
                </a:solidFill>
                <a:latin typeface="Helvetica World"/>
                <a:ea typeface="Helvetica World"/>
                <a:cs typeface="Helvetica World"/>
                <a:sym typeface="Helvetica World"/>
              </a:rPr>
              <a:t>9,</a:t>
            </a:r>
            <a:r>
              <a:rPr lang="en-US" sz="1905">
                <a:solidFill>
                  <a:srgbClr val="000000"/>
                </a:solidFill>
                <a:latin typeface="Helvetica World"/>
                <a:ea typeface="Helvetica World"/>
                <a:cs typeface="Helvetica World"/>
                <a:sym typeface="Helvetica World"/>
              </a:rPr>
              <a:t> </a:t>
            </a:r>
            <a:r>
              <a:rPr lang="en-US" sz="1905">
                <a:solidFill>
                  <a:srgbClr val="343434"/>
                </a:solidFill>
                <a:latin typeface="Helvetica World"/>
                <a:ea typeface="Helvetica World"/>
                <a:cs typeface="Helvetica World"/>
                <a:sym typeface="Helvetica World"/>
              </a:rPr>
              <a:t>2026</a:t>
            </a:r>
          </a:p>
        </p:txBody>
      </p:sp>
      <p:sp>
        <p:nvSpPr>
          <p:cNvPr name="TextBox 14" id="14"/>
          <p:cNvSpPr txBox="true"/>
          <p:nvPr/>
        </p:nvSpPr>
        <p:spPr>
          <a:xfrm rot="0">
            <a:off x="8659164" y="7446414"/>
            <a:ext cx="2057592" cy="438226"/>
          </a:xfrm>
          <a:prstGeom prst="rect">
            <a:avLst/>
          </a:prstGeom>
        </p:spPr>
        <p:txBody>
          <a:bodyPr anchor="t" rtlCol="false" tIns="0" lIns="0" bIns="0" rIns="0">
            <a:spAutoFit/>
          </a:bodyPr>
          <a:lstStyle/>
          <a:p>
            <a:pPr algn="l">
              <a:lnSpc>
                <a:spcPts val="2667"/>
              </a:lnSpc>
            </a:pPr>
            <a:r>
              <a:rPr lang="en-US" sz="1905">
                <a:solidFill>
                  <a:srgbClr val="343434"/>
                </a:solidFill>
                <a:latin typeface="Helvetica World"/>
                <a:ea typeface="Helvetica World"/>
                <a:cs typeface="Helvetica World"/>
                <a:sym typeface="Helvetica World"/>
              </a:rPr>
              <a:t>VFLMS26_163777</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9/3/2026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7" y="5201336"/>
            <a:ext cx="687400" cy="592588"/>
            <a:chOff x="0" y="0"/>
            <a:chExt cx="916534"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p:spPr>
        </p:sp>
      </p:grpSp>
      <p:grpSp>
        <p:nvGrpSpPr>
          <p:cNvPr name="Group 31" id="31"/>
          <p:cNvGrpSpPr/>
          <p:nvPr/>
        </p:nvGrpSpPr>
        <p:grpSpPr>
          <a:xfrm rot="0">
            <a:off x="16670007" y="3592087"/>
            <a:ext cx="537591" cy="463439"/>
            <a:chOff x="0" y="0"/>
            <a:chExt cx="716788" cy="617918"/>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p:spPr>
        </p:sp>
      </p:grpSp>
      <p:grpSp>
        <p:nvGrpSpPr>
          <p:cNvPr name="Group 33" id="33"/>
          <p:cNvGrpSpPr/>
          <p:nvPr/>
        </p:nvGrpSpPr>
        <p:grpSpPr>
          <a:xfrm rot="0">
            <a:off x="16323974" y="3303299"/>
            <a:ext cx="346034" cy="298304"/>
            <a:chOff x="0" y="0"/>
            <a:chExt cx="461378" cy="397739"/>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p:spPr>
        </p:sp>
      </p:grpSp>
      <p:grpSp>
        <p:nvGrpSpPr>
          <p:cNvPr name="Group 35" id="35"/>
          <p:cNvGrpSpPr/>
          <p:nvPr/>
        </p:nvGrpSpPr>
        <p:grpSpPr>
          <a:xfrm rot="0">
            <a:off x="0" y="4103346"/>
            <a:ext cx="17010002" cy="1050169"/>
            <a:chOff x="0" y="0"/>
            <a:chExt cx="22680003" cy="1400226"/>
          </a:xfrm>
        </p:grpSpPr>
        <p:sp>
          <p:nvSpPr>
            <p:cNvPr name="Freeform 36" id="36"/>
            <p:cNvSpPr/>
            <p:nvPr/>
          </p:nvSpPr>
          <p:spPr>
            <a:xfrm flipH="false" flipV="false" rot="0">
              <a:off x="0" y="0"/>
              <a:ext cx="22680000" cy="1400228"/>
            </a:xfrm>
            <a:custGeom>
              <a:avLst/>
              <a:gdLst/>
              <a:ahLst/>
              <a:cxnLst/>
              <a:rect r="r" b="b" t="t" l="l"/>
              <a:pathLst>
                <a:path h="1400228" w="22680000">
                  <a:moveTo>
                    <a:pt x="0" y="0"/>
                  </a:moveTo>
                  <a:lnTo>
                    <a:pt x="22680000" y="0"/>
                  </a:lnTo>
                  <a:lnTo>
                    <a:pt x="22680000" y="1400228"/>
                  </a:lnTo>
                  <a:lnTo>
                    <a:pt x="0" y="1400228"/>
                  </a:lnTo>
                  <a:close/>
                </a:path>
              </a:pathLst>
            </a:custGeom>
            <a:blipFill>
              <a:blip r:embed="rId2">
                <a:alphaModFix amt="0"/>
              </a:blip>
              <a:stretch>
                <a:fillRect l="0" t="-265606" r="0" b="-265606"/>
              </a:stretch>
            </a:blipFill>
          </p:spPr>
        </p:sp>
        <p:sp>
          <p:nvSpPr>
            <p:cNvPr name="TextBox 37" id="37"/>
            <p:cNvSpPr txBox="true"/>
            <p:nvPr/>
          </p:nvSpPr>
          <p:spPr>
            <a:xfrm>
              <a:off x="0" y="-9525"/>
              <a:ext cx="22680003" cy="1409751"/>
            </a:xfrm>
            <a:prstGeom prst="rect">
              <a:avLst/>
            </a:prstGeom>
          </p:spPr>
          <p:txBody>
            <a:bodyPr anchor="ctr" rtlCol="false" tIns="0" lIns="0" bIns="0" rIns="0"/>
            <a:lstStyle/>
            <a:p>
              <a:pPr algn="ctr">
                <a:lnSpc>
                  <a:spcPts val="7776"/>
                </a:lnSpc>
              </a:pPr>
              <a:r>
                <a:rPr lang="en-US" sz="6480"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683234"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9"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DAHWAeWwTUE</dc:identifier>
  <dcterms:modified xsi:type="dcterms:W3CDTF">2011-08-01T06:04:30Z</dcterms:modified>
  <cp:revision>1</cp:revision>
  <dc:title>VOIS_Major_Project_PPT_Submission_Template.pptx</dc:title>
</cp:coreProperties>
</file>